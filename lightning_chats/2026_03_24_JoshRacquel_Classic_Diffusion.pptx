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3"/>
  </p:notesMasterIdLst>
  <p:handoutMasterIdLst>
    <p:handoutMasterId r:id="rId84"/>
  </p:handoutMasterIdLst>
  <p:sldIdLst>
    <p:sldId id="281" r:id="rId5"/>
    <p:sldId id="284" r:id="rId6"/>
    <p:sldId id="317" r:id="rId7"/>
    <p:sldId id="318" r:id="rId8"/>
    <p:sldId id="319" r:id="rId9"/>
    <p:sldId id="265" r:id="rId10"/>
    <p:sldId id="322" r:id="rId11"/>
    <p:sldId id="323" r:id="rId12"/>
    <p:sldId id="324" r:id="rId13"/>
    <p:sldId id="325" r:id="rId14"/>
    <p:sldId id="296" r:id="rId15"/>
    <p:sldId id="326" r:id="rId16"/>
    <p:sldId id="297" r:id="rId17"/>
    <p:sldId id="334" r:id="rId18"/>
    <p:sldId id="329" r:id="rId19"/>
    <p:sldId id="330" r:id="rId20"/>
    <p:sldId id="331" r:id="rId21"/>
    <p:sldId id="332" r:id="rId22"/>
    <p:sldId id="333" r:id="rId23"/>
    <p:sldId id="335" r:id="rId24"/>
    <p:sldId id="375" r:id="rId25"/>
    <p:sldId id="298" r:id="rId26"/>
    <p:sldId id="338" r:id="rId27"/>
    <p:sldId id="339" r:id="rId28"/>
    <p:sldId id="340" r:id="rId29"/>
    <p:sldId id="299" r:id="rId30"/>
    <p:sldId id="341" r:id="rId31"/>
    <p:sldId id="300" r:id="rId32"/>
    <p:sldId id="342" r:id="rId33"/>
    <p:sldId id="343" r:id="rId34"/>
    <p:sldId id="344" r:id="rId35"/>
    <p:sldId id="301" r:id="rId36"/>
    <p:sldId id="302" r:id="rId37"/>
    <p:sldId id="303" r:id="rId38"/>
    <p:sldId id="345" r:id="rId39"/>
    <p:sldId id="346" r:id="rId40"/>
    <p:sldId id="347" r:id="rId41"/>
    <p:sldId id="304" r:id="rId42"/>
    <p:sldId id="348" r:id="rId43"/>
    <p:sldId id="349" r:id="rId44"/>
    <p:sldId id="305" r:id="rId45"/>
    <p:sldId id="306" r:id="rId46"/>
    <p:sldId id="352" r:id="rId47"/>
    <p:sldId id="350" r:id="rId48"/>
    <p:sldId id="351" r:id="rId49"/>
    <p:sldId id="307" r:id="rId50"/>
    <p:sldId id="353" r:id="rId51"/>
    <p:sldId id="316" r:id="rId52"/>
    <p:sldId id="354" r:id="rId53"/>
    <p:sldId id="308" r:id="rId54"/>
    <p:sldId id="309" r:id="rId55"/>
    <p:sldId id="355" r:id="rId56"/>
    <p:sldId id="356" r:id="rId57"/>
    <p:sldId id="357" r:id="rId58"/>
    <p:sldId id="358" r:id="rId59"/>
    <p:sldId id="310" r:id="rId60"/>
    <p:sldId id="362" r:id="rId61"/>
    <p:sldId id="364" r:id="rId62"/>
    <p:sldId id="363" r:id="rId63"/>
    <p:sldId id="365" r:id="rId64"/>
    <p:sldId id="366" r:id="rId65"/>
    <p:sldId id="376" r:id="rId66"/>
    <p:sldId id="379" r:id="rId67"/>
    <p:sldId id="312" r:id="rId68"/>
    <p:sldId id="313" r:id="rId69"/>
    <p:sldId id="367" r:id="rId70"/>
    <p:sldId id="368" r:id="rId71"/>
    <p:sldId id="377" r:id="rId72"/>
    <p:sldId id="378" r:id="rId73"/>
    <p:sldId id="314" r:id="rId74"/>
    <p:sldId id="372" r:id="rId75"/>
    <p:sldId id="373" r:id="rId76"/>
    <p:sldId id="369" r:id="rId77"/>
    <p:sldId id="370" r:id="rId78"/>
    <p:sldId id="371" r:id="rId79"/>
    <p:sldId id="374" r:id="rId80"/>
    <p:sldId id="315" r:id="rId81"/>
    <p:sldId id="282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879" autoAdjust="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handoutMaster" Target="handoutMasters/handoutMaster1.xml"/><Relationship Id="rId89" Type="http://schemas.microsoft.com/office/2018/10/relationships/authors" Target="author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4C09-64BB-3E4C-F6D8-F5AD7F9D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8081F-0766-98CC-7CF9-CE7400853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EB845-7874-9248-E59A-1CCA85FCD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9630C-C4F8-0177-8FB0-955A02A76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0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E61E-2141-8A2B-2F20-864BB17C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0020E-EF29-97BA-44AD-663221E26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C3E1F-4AF4-AFBA-45C5-0AA824DA8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47DC-72DD-9AC5-468A-9CEE70E4B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1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46ED-BD42-088E-F87F-42A6636C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CEF2-DEB9-F0AB-33F9-812DC8A4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9881C-B726-2558-49DF-5E380764F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92342-0A3A-BB56-47A3-E91F71764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08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BB47-0FA5-A679-F0C9-C474588C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FF599-313C-FFFD-6A2A-99621F3FE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5DCE9-DDEA-B350-53B9-294CEF8C9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29623-021F-EF79-9E38-698751117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0D6E-9A2F-F30E-1A8A-39A35917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E6908-3937-400E-DA28-3AF48769C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C1B6F-EEC8-B113-2DD2-B431A663E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CC0D6-E27D-DDE4-DEE1-149A41F77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52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1E30-7737-2C99-CEBC-E4A4518E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627B5-DC5F-283B-B7D6-FB57AE457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D985E-43DC-5854-BE0B-9549CE37E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A12F8-DF23-2F81-FE8E-99BA697C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1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C79C-1744-AE80-5758-3E7AD6A6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1FFCF-AFAE-7CF6-E5F9-83D354C63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341B6-CB16-C883-45B5-90AF13E24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79D83-EFAB-12E9-A34C-3D6291434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8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C69A-DB28-F852-09F9-30BC9D27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F2ACC-973C-E339-4D8C-14BAE160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22755-4C2A-91EF-8A19-5D4B17586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93101-5CF9-8ACC-CF4A-BCD66BF1C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92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CE5AB-718A-D0B6-B5FD-91577588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54843-7E2F-0C92-8373-EE80F7036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F73F3-029F-AC15-411B-B3A8FB07A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3CD22-42E8-1CA9-07AB-917AD00B2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9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5533-ACA8-DFA3-9B06-37144EA6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2B430-7D5A-6562-DC8F-04B8FAF49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BFA47-BA26-A4F2-939F-22A94DE0E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8588-D1DE-F024-C526-D54CCBD39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07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6FC2-22FF-9546-A0DE-B7B11B3D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FB76C-F0E0-D70E-E590-79E96F86B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6A2A9-8ED7-DD2A-4D84-26A7E8AE2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5830C-AAC7-F6DB-9589-C751AB933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56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5326-9310-E074-0068-48159268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E56C4-FDCB-9886-BBD7-90B7C1499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2189C-ACF2-95FD-7920-4A7AA865C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DDD7-DF86-B638-E08E-045E402EF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14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FCAA-C647-C67C-2DB6-0DA904B8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E141C-8A8A-9DA8-63B1-9F028F103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7588F-AB27-52FC-DBCF-0C8B4AE1F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6BA8E-E6C3-298F-CBC6-8289BE474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46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FA27-A393-C089-6D87-5AFB5521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70EE2-BEA0-8029-4535-CBE14DAA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6CCF8-A3D0-D27F-36EE-9C28A0EB6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CE1EB-6040-75C6-B6F5-D76C286D9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04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5B013-ACE1-D3F5-3E89-3D32612A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264D4-79E6-9FE1-C9B2-1019452F0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5DBF7-2F7F-AF12-DFE3-3DFC16A36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2793F-8A03-6E8A-98E4-340A9CED7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45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7BA4-4CD9-7EEA-A8EC-79A9547A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CF499-97E6-2999-502E-E98232663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18B7F-678D-13A6-5930-F0E0F2448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7098-9E6C-E3A5-A15C-9185D6756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00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A9C6B-EF75-AE31-2F20-C528D34C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05024-ADC7-C2C8-5BA9-C19F81C00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0D6DB-5406-B2C2-D562-21E470CC5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77BC8-F4D0-8BCE-C7C6-008E9B740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67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A924-1B6F-4B4F-F872-782E06ED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F1692-6FBC-4278-32B5-1224B47FC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307B9-3F47-92FC-7C69-02E4D5DD1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9940-A61E-B7E1-2C9F-25B2C1097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40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A7D3-12BA-F300-67F4-7406058F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762FB-17E5-AC2C-0208-F9194B415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3626F-1B0A-84B1-C8FF-66EA36FEA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B9089-7E25-71FF-9C9C-705879419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5EC83-6F49-E2B4-6C57-2F67E8C3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8C036-CAF3-7B22-95B6-D5EEEFD3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0B0E5-54D0-DFC1-7C96-05197685A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EBB9F-E3A5-6E60-8C03-082196580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74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FFDD9-FC8F-312A-BFA0-0E22C9C7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C1ADB-B88F-1DC7-499D-D343C1CAE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DD6D1-F8E5-8C1E-5CDD-AF1C94CD7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79C13-CA38-16C3-6531-6F6642DBD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872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4F480-C873-C147-FEEB-1A4CCEFB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82878-B9CC-9251-77D7-21DC6BA29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FA428-8749-E4B2-A1CC-1BE6E0BA7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D423D-D0A5-33A9-CDCC-F2AE28F6F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445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040E-B131-B6BA-BF18-A76FC4EB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E149A-7FD4-CD73-69E5-D08034232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F6E73-2B77-6E0D-C46B-41B7843B7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8BF86-1328-58C1-615F-19A2A9C2D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0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6D2F-4693-BDA7-4F8F-966AF362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A9C51-026C-B59B-EA1B-77D184747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276E6-6CD2-CA76-A4F8-B7ABAF8E1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CD33-4853-0F81-2F3B-080A39101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18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F3E0-1AE1-E467-D97E-807D0AD0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B3A51-97C9-7B4A-D7F3-BC0B79673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5F35C-8073-C9B9-03E7-44FEEDDC3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7947D-4011-6912-86E8-EF8BE4C64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686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2019-5554-DBF1-76B9-0A1EFB4D0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67662-AD90-E92F-FBAA-845C94C33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E8C50-12AC-FCD8-1CE9-BB430094E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606B4-2523-B9C2-7F7D-FD18BA39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620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2D4B-1756-46F6-C0EC-75D342DB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D2E0B-1586-0CF4-A586-19DFF250A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F493B-8DFD-D69F-12F0-6262B32BD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0047-4025-93A6-F5F2-57D8C7FFB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70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5E04-B4E2-4ABB-8EEE-27614735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390DC-C1AE-74BF-F48D-174E1272A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FC6E6-0F6A-399A-A238-6E2D6F178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593D2-8BA5-84F5-240F-F502870EE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105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468B-8694-F531-B92B-A4456A40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C9D4E-2BC5-8D49-D483-2FD31CBBA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E9BDB-2853-473B-A43C-7032AE113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E450C-D638-FDEF-6557-FFF43C4E8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643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CC60-2800-21D0-DB92-ADE3EF82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D9AB3-2AB9-E6FD-5C7E-154C446C2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D6B05-3DE9-4EA4-1F69-5B934DF0B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3AE61-0F52-F4FC-0F7E-8E06FBF1F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E24A-B475-F449-ED21-32C0FAF6F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25E87-1381-012F-9F13-06B6FBB6B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6550A-3371-83EE-6161-CF1E9F5AA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7A05-4F88-115E-5C1C-1040EDB5E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113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673D-DD53-5298-BE4B-DBB14F93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9DAE9-EB7A-D06C-2E2E-8836DA9D1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32902-12F3-1C9B-AB82-97C808CB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F1F45-2C47-B274-53AE-16E9F8C66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383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5E26-AFFC-9232-8FF4-F1741A8E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E1C96-85E8-5D71-EADB-33C695E53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B855B-FC3A-C63A-D52C-DD21DA8EF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8B9AF-60B2-91E0-96CF-F7158478E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960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47DA-3230-BC31-D73B-CF788E28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DB3B5-082B-7B56-49CA-1A91AF63F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38CA-5DCD-4918-B9C6-01F4B8299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63D48-BECA-63B5-3AE3-7B20B820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761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BAF8-93ED-E7C9-D8E1-610CD6A0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46922-3D32-80C6-B761-6EC9BD272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94643-8A3F-EFC4-79BC-D8E5842A6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6E63B-B9B6-A76A-5F92-70362CC99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709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A149-A4C4-1585-9D71-7BB9CC8D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2D0D0-C30F-306B-2D31-151B2C9F7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1566-DAE0-5A3F-FC13-55EEB3303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106E3-36AC-366E-81E8-CE94A6FF1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475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FC3C-7716-1A8B-6C25-D0F26A85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9146C-703A-0831-F694-400A92B8A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94743-D836-8248-7825-BA435D40A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7AA44-C6CE-12B3-A1AB-F43C1C88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74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5B95-18AB-6B53-4393-F5A18C6B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FF2ED-8D75-F3F8-E07E-0D08D216F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5377A-7155-AE2A-833F-17F4BF616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6E1DD-BF33-238A-D083-B3C258624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805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A699-FB85-5047-C061-4BCD4D57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7CB0F-C552-D545-9E9A-60D09A029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ACEC6-DF98-6C89-91C2-EFC28FD5D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86CCB-D3ED-D192-5373-CE051E6E4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896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B4B1-FBFA-A927-ED4F-FD6B8880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F525A-FBE1-05C0-7566-6BFCC730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283DE-A076-DF4D-7A9B-BEC5D3E0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C8C07-C559-AD5F-5037-0783F0C5B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542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FF08-C361-D163-5024-0ED19A11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E86A-1706-CA83-B7F5-3C6636AAD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48DB0-77AE-A32E-DE04-402BE9883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66450-411B-9592-FB91-231DD0D18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245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4BCC-2905-24C9-4FD4-92B32507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FB215-8BFD-3870-F9DE-EA4275E9B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481A8-D602-4956-6453-F8A9F5E47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7F6DA-E410-EC54-0E04-469B8BF4B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741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6C33-5C9E-A8C4-3A72-DA878309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2ACBC-E811-388B-468E-539DE75D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C9058-36F1-6A95-8C49-007EECEE2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CBAC0-1190-C39A-E8D1-A5CFFE85C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469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F894-56F7-B05B-D4DD-4535DEBB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6FBE2-6858-8DEE-0A0C-695BE29D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F331D-6FB3-5B81-A476-0EDA9ED0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2CE0B-6CA6-BB2E-1095-949FFD19B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66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6CD7-FEDF-5EA8-D489-4FFECB23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4A2F5-F659-0BE4-75FB-A60CB1DBF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B0790-41C5-0F08-EBD0-069668493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97FD-E054-819E-3067-9882D700D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137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46F1-1161-5B5D-2B4F-78F78703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0F063-25AC-A255-4B65-64963F17C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53F23-E007-9ED2-6A23-C29F8CE2E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2FCF0-570E-9473-2A4F-BD4450AB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681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8FBB-58F1-0510-C771-298148BC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238B9-EAFC-7E43-A1C7-2015C62C8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D48ED-7E68-AB4E-9A07-D675FBA86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EFB5E-22A2-EC9A-B424-BA3B4C0CE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417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2B6B-04DD-32CE-C4D9-D011F69C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6EA89-8424-1BA4-66AE-0882C261A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195C2-9224-8A94-D24F-7EE713498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0055-E29F-DEBC-8260-7EBDEFDCD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53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F6E9-9D54-A87F-500F-CC3FC41B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C181B-62E5-13BE-A073-3C76095FC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D8861-A708-EF64-9A93-E4EEF3F22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F2237-884A-AFC4-060F-2FA869163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763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8100-DD19-D69C-36D0-B43EDDAF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5678A-9785-F405-556F-E4BBF3B33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3BC41-B524-C545-93B3-F4BCDB5ED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0135F-A215-C33C-E253-611D50A1A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545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167D-8913-5DA1-3F3B-D4C58842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2C25F-C783-9D5E-8DD2-DBECD232B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EAF84-4E03-77CE-A85C-5696F382E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4562-5B71-495A-0EC6-3359E89FB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074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0501-A7C2-8CE9-B5A6-B89A4A8E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9387D-DDA6-40B0-F4AE-59154F58E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676CA-D469-6FD7-A8E0-76C810120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9DDB9-F2E2-E417-E33A-4392EF9EF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659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8865-F3E0-B000-25AB-D6B1280B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479FE-66EB-D012-C5E1-658CD88F9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14612-795E-1399-B7A6-7C0BBE8F4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CA831-3184-0200-4CBE-CD946AD36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843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6A8C-3827-AB2E-1063-0BC053F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48A76-B69B-8B70-F926-A130136AA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58B1E-75C6-6910-4ACD-2E6FF119A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6B611-0234-EA83-5981-1FDBF6B83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621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DCA9-6963-9510-FA60-27FF117F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4D33B-3AA4-6FC9-98BB-19B8A8121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AB30A-DE07-A6D2-F671-1C1117985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415B1-7F82-5DB3-CE23-073E80693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2090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1C17-7E97-1500-5CBA-64F1C508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750A6-5016-8C13-64A4-55EE59BD7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E2CBC-0CDB-4C1B-494A-8A8A8D41F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2D5CE-0D0C-9CA2-C1C8-24CA5960F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826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9D26-D98A-14C8-9ABA-A4776622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9CEDB-3D92-F965-6169-25D19E023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C241D-447E-F6D0-32DD-6F09D2CA2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8706-BB9E-F550-4D1B-3E9B28140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72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636D-A99C-0C63-3F7E-517D208A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91BA4-FF43-9C96-E8F6-C29ECA1E4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C47E6-0CB0-CAEA-047E-5DCC12A1E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4B722-39DB-9AEC-4890-6E3F32E63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863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C829-10FD-B3D4-EEC1-7499D650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A90D4-FFC8-69D4-0033-EA032319B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68C88-D8FD-C193-2E65-9A38F7F69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9C9DC-8FB0-1469-0642-F21673DBE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470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0EC0-6CFE-5A01-D51E-7956B089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B836E-6E20-2F55-DA00-102B95E81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47266-7185-2A2B-64C3-53724FF2C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EB981-548A-E2E5-6D92-6041F2C1C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5374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B880-8C3E-29F4-2B6D-71E970CE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DBDD9-5509-A655-6E61-395D29284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18BAE-519C-159D-026A-90D14F02A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A1F20-6577-D498-0045-785FECB91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798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46EC-66CF-28B6-2C89-11F616EB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2580F-7733-6F55-567F-B2077A1BF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367FF-5471-7CD2-FAE3-D2AE0461A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159E-F6C9-0F86-91D5-75907282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207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3FBA4-B3FA-34B2-E8D7-6890BB77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FB926-14A6-8051-F5B5-9F0E52E8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8C11B-9B68-7995-A221-176309C7C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DACA7-F07C-36EE-3C4C-677DA9723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53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A599-1635-C03D-00B7-E9021D17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5135E-3B75-D19B-C465-F67365B4B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02B7A-8CFA-F390-5C01-8833264C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DCBC3-228F-6344-B221-13F935263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791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ACDE-B7E6-8851-1D79-18F1BE8F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926B8-824F-5EA9-0ADB-A6FE1ED2D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D251C-376E-8D68-D5FB-F3FDCEE48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15E89-C63C-6A3B-922F-741E175A1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238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515D-A3CA-CC55-1A76-C3498685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D5997-0377-3D9B-54E4-6C2749DD6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2350B-A387-FD3A-635B-633622D91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BEB46-A00C-C722-C040-446822A26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20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8F22-1FA7-F20E-D9E3-2C14993F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FEC35-0DF6-7357-8B1D-13BF8D90E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A5910-70BB-EB0C-B57F-AD145DDFC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54D15-3DDC-D13B-F396-AC59228DA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999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7441-2DE6-CF2C-3157-9B453245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D8D64-BFA8-1BC7-25B4-38DE97971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6663C-16BA-4DDF-8907-F94CB6EE2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EDFE8-DC03-8DC3-4C40-320A51D9A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5814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93F2-8314-F3B8-7412-2076AB82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6E5BD-4010-129A-85B2-85796A12D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06B7D-97BA-DD8A-B7FF-BE832098E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525D8-B163-67EA-F7E0-E484FD7EB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4321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8834-8B49-35DE-36C3-C524F277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BAABF-7B78-98BB-E97A-19F468F46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848FB-9A11-C684-ACF4-E2679A450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EB726-B10C-DDF4-F240-24DDACD60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133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9922F-5FCB-0D70-73B9-7669238A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54915-3D4D-DC0A-F4C2-358A8BE1A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AACC0-3F71-9554-0BB2-182EC0BC3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E81AB-6152-75A2-ED7A-805F9C9BD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571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8A1C-6985-B9D7-B97D-38B48E91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DBABC-EECE-6025-5A89-B8E54DE36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E213A-021B-66B1-2980-7D834DCC6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9DC2-EB1D-F3C2-2151-2E1FCE0DB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2171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BF666-E0E8-8492-8745-975C2851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5D985-9691-20F3-5893-A47709C05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8264F-A37F-7E39-D37B-E1CAE6857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03FCE-DB16-427E-7539-B73686BFA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866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20E5-344E-E3EA-D045-773CA5A0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B0221-CCB1-46E3-F662-55DF81BBC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061C4-50FD-0F4F-FCD4-6FAA8965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7F493-2E8C-1FF2-8F3D-9DD9ACC07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6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386ED8-406C-B9D3-46B6-FBD0AFD40755}"/>
              </a:ext>
            </a:extLst>
          </p:cNvPr>
          <p:cNvSpPr/>
          <p:nvPr/>
        </p:nvSpPr>
        <p:spPr>
          <a:xfrm>
            <a:off x="1323975" y="1499937"/>
            <a:ext cx="9344025" cy="2286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9937"/>
            <a:ext cx="9144000" cy="2286000"/>
          </a:xfrm>
        </p:spPr>
        <p:txBody>
          <a:bodyPr/>
          <a:lstStyle/>
          <a:p>
            <a:r>
              <a:rPr lang="en-US" dirty="0"/>
              <a:t>Deep Unsupervised Learning Using Nonequilibrium Thermodynamics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578E6-6DC3-1772-50D9-3798323FFD8D}"/>
              </a:ext>
            </a:extLst>
          </p:cNvPr>
          <p:cNvSpPr/>
          <p:nvPr/>
        </p:nvSpPr>
        <p:spPr>
          <a:xfrm>
            <a:off x="3657599" y="4676274"/>
            <a:ext cx="4676775" cy="6191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25465-A07E-C2B1-A6F6-8306A1292352}"/>
              </a:ext>
            </a:extLst>
          </p:cNvPr>
          <p:cNvSpPr txBox="1"/>
          <p:nvPr/>
        </p:nvSpPr>
        <p:spPr>
          <a:xfrm>
            <a:off x="3808244" y="4801170"/>
            <a:ext cx="437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Joshua Bowen &amp; Racquel Bowen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5D4D1-5825-E59B-1EE2-EBF04D8E238F}"/>
              </a:ext>
            </a:extLst>
          </p:cNvPr>
          <p:cNvSpPr txBox="1"/>
          <p:nvPr/>
        </p:nvSpPr>
        <p:spPr>
          <a:xfrm>
            <a:off x="3657599" y="870103"/>
            <a:ext cx="437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Lightning-Chat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002202" cy="169132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Chat Focus: The math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656CB4-4A6A-6F45-4E07-3B339A99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5EE8-30C7-E97E-897F-2B9746A1A030}"/>
              </a:ext>
            </a:extLst>
          </p:cNvPr>
          <p:cNvSpPr txBox="1">
            <a:spLocks/>
          </p:cNvSpPr>
          <p:nvPr/>
        </p:nvSpPr>
        <p:spPr>
          <a:xfrm>
            <a:off x="539414" y="1607005"/>
            <a:ext cx="11113169" cy="471007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</a:t>
            </a:r>
            <a:r>
              <a:rPr lang="en-US" sz="2400" dirty="0">
                <a:solidFill>
                  <a:srgbClr val="FF0000"/>
                </a:solidFill>
              </a:rPr>
              <a:t>If you read the paper and understood all of it perfectly…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7909-7967-280B-ACA4-1A838F93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01D6-3613-F31B-0D27-E8628CB8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002202" cy="169132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Chat Focus: The math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5111D-81F1-7136-94D8-E2528AA2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728D-B8E8-1A45-B81C-3BBA87B70844}"/>
              </a:ext>
            </a:extLst>
          </p:cNvPr>
          <p:cNvSpPr txBox="1">
            <a:spLocks/>
          </p:cNvSpPr>
          <p:nvPr/>
        </p:nvSpPr>
        <p:spPr>
          <a:xfrm>
            <a:off x="539415" y="1607005"/>
            <a:ext cx="11113169" cy="471007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If you read the paper and understood all of it perfectly….</a:t>
            </a:r>
            <a:r>
              <a:rPr lang="en-US" sz="2400" dirty="0">
                <a:solidFill>
                  <a:srgbClr val="FF0000"/>
                </a:solidFill>
              </a:rPr>
              <a:t>this presentation won’t be very interesting for you… </a:t>
            </a:r>
          </a:p>
        </p:txBody>
      </p:sp>
    </p:spTree>
    <p:extLst>
      <p:ext uri="{BB962C8B-B14F-4D97-AF65-F5344CB8AC3E}">
        <p14:creationId xmlns:p14="http://schemas.microsoft.com/office/powerpoint/2010/main" val="389191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CF97-462C-EA85-3B24-2B649258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540B-29D3-63D7-EAC7-62E8B95DE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002202" cy="169132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Chat Focus: The math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065EF-D911-924C-76A4-88062D22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F894-7F5D-7EDA-A94F-E711732D04C8}"/>
              </a:ext>
            </a:extLst>
          </p:cNvPr>
          <p:cNvSpPr txBox="1">
            <a:spLocks/>
          </p:cNvSpPr>
          <p:nvPr/>
        </p:nvSpPr>
        <p:spPr>
          <a:xfrm>
            <a:off x="539414" y="1607005"/>
            <a:ext cx="11113169" cy="471007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If you read the paper and understood all of it perfectly….this presentation won’t be very interesting for you…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</a:t>
            </a:r>
            <a:r>
              <a:rPr lang="en-US" sz="2400" dirty="0">
                <a:solidFill>
                  <a:srgbClr val="FF0000"/>
                </a:solidFill>
              </a:rPr>
              <a:t>For anyone who might have gotten a little lost or confused…</a:t>
            </a:r>
          </a:p>
        </p:txBody>
      </p:sp>
    </p:spTree>
    <p:extLst>
      <p:ext uri="{BB962C8B-B14F-4D97-AF65-F5344CB8AC3E}">
        <p14:creationId xmlns:p14="http://schemas.microsoft.com/office/powerpoint/2010/main" val="78817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E720-DF84-7031-EAA5-CE46788F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CA67-10DD-5E46-A03E-74746A8B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002202" cy="169132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Chat Focus: The math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397D0-1BCF-72A4-5E25-5730EF663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ECED-B01C-C708-CD63-B3505BA56393}"/>
              </a:ext>
            </a:extLst>
          </p:cNvPr>
          <p:cNvSpPr txBox="1">
            <a:spLocks/>
          </p:cNvSpPr>
          <p:nvPr/>
        </p:nvSpPr>
        <p:spPr>
          <a:xfrm>
            <a:off x="539414" y="1607005"/>
            <a:ext cx="11113169" cy="471007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If you read the paper and understood all of it perfectly….this presentation won’t be very interesting for you…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   For anyone who might have gotten a little lost or confused… </a:t>
            </a:r>
            <a:r>
              <a:rPr lang="en-US" sz="2400" dirty="0">
                <a:solidFill>
                  <a:srgbClr val="FF0000"/>
                </a:solidFill>
              </a:rPr>
              <a:t>we thought it would be helpful to look at some of the equations from the paper to see what’s happening and what tricks the authors used. </a:t>
            </a:r>
          </a:p>
        </p:txBody>
      </p:sp>
    </p:spTree>
    <p:extLst>
      <p:ext uri="{BB962C8B-B14F-4D97-AF65-F5344CB8AC3E}">
        <p14:creationId xmlns:p14="http://schemas.microsoft.com/office/powerpoint/2010/main" val="376993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92CB13-7345-5147-5C04-4F10BA6229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4"/>
            <a:ext cx="6506932" cy="5021178"/>
          </a:xfrm>
        </p:spPr>
        <p:txBody>
          <a:bodyPr>
            <a:normAutofit/>
          </a:bodyPr>
          <a:lstStyle/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3119F8-AE2A-5875-DD6E-A7B74DAC9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ACB663-B9C5-B0D5-F1FE-A06F944C2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A8E3CA-8EE6-DE0C-8EED-C6D438C1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171BF4-98B9-3B7B-FAD5-7137AFAC7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FD99E-5114-819C-9B38-B411B2D3500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609725" y="2106781"/>
            <a:ext cx="3658092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EECF-CEF9-0175-7A87-1B77556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AA04-A582-7547-8614-41C17014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347E6-3ACC-C66E-0942-F11EAEE10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427C41-FE95-78F5-05BA-831EED0781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4"/>
            <a:ext cx="6506932" cy="5021178"/>
          </a:xfrm>
        </p:spPr>
        <p:txBody>
          <a:bodyPr>
            <a:normAutofit/>
          </a:bodyPr>
          <a:lstStyle/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LEFT we have “</a:t>
            </a:r>
            <a:r>
              <a:rPr lang="el-GR" dirty="0"/>
              <a:t>π</a:t>
            </a:r>
            <a:r>
              <a:rPr lang="en-US" dirty="0"/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FE869D-B926-AD37-95EA-966F5003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875AEA-31EC-822E-7CA9-173432411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305941-1C1F-C786-5650-AFAE22AAA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CA040E-F113-EDD8-4087-041B1DE54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B7D2E-BEC7-2238-8A32-76F0714A6F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581504" y="2202033"/>
            <a:ext cx="627942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4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B1D6D-B80E-1B6F-9162-BC10CC88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92B2-36C2-BA37-75DE-9E06A157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E103F-EE6F-99EE-0D65-7BC85D148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F8B390-C586-63B5-70FE-0BEB47945E4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4"/>
            <a:ext cx="6506932" cy="5021178"/>
          </a:xfrm>
        </p:spPr>
        <p:txBody>
          <a:bodyPr>
            <a:normAutofit/>
          </a:bodyPr>
          <a:lstStyle/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LEFT we have “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RIGHT we have  an integral with respect to </a:t>
            </a:r>
            <a:r>
              <a:rPr lang="en-US" dirty="0" err="1"/>
              <a:t>dy</a:t>
            </a:r>
            <a:r>
              <a:rPr lang="en-US" dirty="0"/>
              <a:t>’. We integrate with respect to </a:t>
            </a:r>
            <a:r>
              <a:rPr lang="en-US" dirty="0" err="1"/>
              <a:t>dy</a:t>
            </a:r>
            <a:r>
              <a:rPr lang="en-US" dirty="0"/>
              <a:t>’ because we are summing over the continuous space of all possible states that y’ could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DB1C8-B97D-76FA-BB19-09D3F9B30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410AAE-68C6-8FD9-2BA5-BFE0A2903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EE976F-7D70-DD37-2FCF-F497543C2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18E01E-176D-153F-2467-F75819811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98892-4275-640F-4882-8C3C3292F20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402089" y="2116306"/>
            <a:ext cx="569711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52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1671-EB34-1302-2901-7262BB7C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4EC6-69D3-475B-A83F-E1EE9799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074AB-499F-CC92-6508-70AEDBD6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B808E3-7A0D-EFBF-05E9-B71CF7554A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4"/>
            <a:ext cx="6506932" cy="5021178"/>
          </a:xfrm>
        </p:spPr>
        <p:txBody>
          <a:bodyPr>
            <a:normAutofit/>
          </a:bodyPr>
          <a:lstStyle/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LEFT we have “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RIGHT we have  an integral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’. We integrate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 because we are summing over the continuous space of all possible states that y’ could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</a:t>
            </a:r>
            <a:r>
              <a:rPr lang="el-GR" baseline="-25000" dirty="0"/>
              <a:t>π</a:t>
            </a:r>
            <a:r>
              <a:rPr lang="en-US" dirty="0"/>
              <a:t> (</a:t>
            </a:r>
            <a:r>
              <a:rPr lang="en-US" dirty="0" err="1"/>
              <a:t>y|y</a:t>
            </a:r>
            <a:r>
              <a:rPr lang="en-US" dirty="0"/>
              <a:t>’; </a:t>
            </a:r>
            <a:r>
              <a:rPr lang="el-GR" dirty="0"/>
              <a:t>β</a:t>
            </a:r>
            <a:r>
              <a:rPr lang="en-US" dirty="0"/>
              <a:t>) is what the paper calls the Markov diffusion kernel – it is like the transition probability matrix P but for continuous variables -- it provides the probability density – how likely we are to go from y’ to y in 1 time-step (</a:t>
            </a:r>
            <a:r>
              <a:rPr lang="el-GR" dirty="0"/>
              <a:t>β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396AF0-5D01-9650-640F-23D07193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5227A5-EEA3-A63F-7DE5-CB1ED53AF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92DD9D-748C-B3DC-12D7-386BC80EB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DE3EF7-7632-7294-1C74-7DAF40716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927F2-56C8-76F9-A78D-2714631DC88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962274" y="2106781"/>
            <a:ext cx="1104901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72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4BD77-A6A2-61DB-65AA-2DB7281C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43C2-9210-7BCE-5E61-4B183362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1DA0B-8BAA-FF53-499B-EBEDB4326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B022EF-37B6-C3CB-DFD4-BCFFC401FB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4"/>
            <a:ext cx="6506932" cy="5021178"/>
          </a:xfrm>
        </p:spPr>
        <p:txBody>
          <a:bodyPr>
            <a:normAutofit/>
          </a:bodyPr>
          <a:lstStyle/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LEFT we have “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RIGHT we have  an integral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’. We integrate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 because we are summing over the continuous space of all possible states that y’ could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T</a:t>
            </a:r>
            <a:r>
              <a:rPr lang="el-GR" baseline="-25000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y|y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’; 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 is what the paper calls the Markov diffusion kernel – it is like the transition probability matrix P but for continuous variables -- it provides the probability density – how likely we are to go from y’ to y in 1 time-step (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we multiple by </a:t>
            </a:r>
            <a:r>
              <a:rPr lang="el-GR" dirty="0"/>
              <a:t>π</a:t>
            </a:r>
            <a:r>
              <a:rPr lang="en-US" dirty="0"/>
              <a:t>(y’) – to represent the probability of getting to state y’ in the first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C34FC5-9A27-19D1-559D-00123789C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FDD15-6574-D869-8D69-B92507714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AB3CC2-E2BE-0047-DD52-D8E5171D7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47A3AC-C6DD-41EB-75D7-4098F4D62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E96F58-8686-90B2-33BE-2256C010E7F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029074" y="2116306"/>
            <a:ext cx="600075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20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D218-122F-5681-62DD-0D89EA6D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ABC13904-B46A-41A5-7577-28F863524BDA}"/>
              </a:ext>
            </a:extLst>
          </p:cNvPr>
          <p:cNvSpPr txBox="1">
            <a:spLocks/>
          </p:cNvSpPr>
          <p:nvPr/>
        </p:nvSpPr>
        <p:spPr>
          <a:xfrm>
            <a:off x="5469984" y="1395664"/>
            <a:ext cx="6506932" cy="5021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LEFT we have “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RIGHT we have  an integral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’. We integrate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 because we are summing over the continuous space of what all possible states that y’ could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T</a:t>
            </a:r>
            <a:r>
              <a:rPr lang="el-GR" baseline="-25000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y|y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’; 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 is what the paper calls the Markov diffusion kernel – it is like the transition probability matrix P but for continuous variables -- it provides the probability density – how likely we are to go from y’ to y in 1 time-step (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Finally, we multiple by 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(y’) – to represent the probability of getting to state y’ in the first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7D4D2-0142-7BB5-0575-4DCF9B41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68D59-40AF-4B97-6693-C20F6414B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8F310A-1C7D-BE87-DBA7-D64898F4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D3C8CB-6B6B-E788-AE48-E40764F56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EA07D0-6C79-92CF-9963-C7A43FF4A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65308D-B287-47DB-8C83-F31E9DB04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056D4F-FB44-DB09-F01F-BB47D90E564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638299" y="2106781"/>
            <a:ext cx="3629517" cy="5782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7B5DAF-8637-0A62-3BD1-692F31DA3B37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</p:spTree>
    <p:extLst>
      <p:ext uri="{BB962C8B-B14F-4D97-AF65-F5344CB8AC3E}">
        <p14:creationId xmlns:p14="http://schemas.microsoft.com/office/powerpoint/2010/main" val="200406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D7CC-07A1-4DDA-0EAA-97D3F450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1BB50C9F-474E-47FD-6958-09111946A5CF}"/>
              </a:ext>
            </a:extLst>
          </p:cNvPr>
          <p:cNvSpPr txBox="1">
            <a:spLocks/>
          </p:cNvSpPr>
          <p:nvPr/>
        </p:nvSpPr>
        <p:spPr>
          <a:xfrm>
            <a:off x="5469984" y="1395664"/>
            <a:ext cx="6506932" cy="5021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Equation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This equation defines how we move from state y’ to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LEFT we have “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(y)” – this means the distribution of the data at state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On the RIGHT we have  an integral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’. We integrate with respect to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 because we are summing over the continuous space of what all possible states that y’ could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T</a:t>
            </a:r>
            <a:r>
              <a:rPr lang="el-GR" baseline="-25000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y|y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’; 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 is what the paper calls the Markov diffusion kernel – it is like the transition probability matrix P but for continuous variables -- it provides the probability density – how likely we are to go from y’ to y in 1 time-step (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β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Finally, we multiple by </a:t>
            </a:r>
            <a:r>
              <a:rPr lang="el-GR" dirty="0">
                <a:solidFill>
                  <a:schemeClr val="bg2">
                    <a:lumMod val="75000"/>
                  </a:schemeClr>
                </a:solidFill>
              </a:rPr>
              <a:t>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(y’) – to represent the probability of getting to state y’ in the first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CF495-4873-9CCA-473C-DEB70097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9B8FA-85EA-F31E-9DB9-B882FA51B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203577-E58C-341C-6241-9C15B399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7E28C3-9381-68F2-D111-D8B2C139B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ADFA22-142D-A41C-BBB5-3E5FDC3BD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383446-B578-3D09-863A-A2700E6A7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7F898-4EB2-3241-ACFE-5397CBF271FE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BA26A-2907-158D-75A1-072CE192BECF}"/>
              </a:ext>
            </a:extLst>
          </p:cNvPr>
          <p:cNvSpPr/>
          <p:nvPr/>
        </p:nvSpPr>
        <p:spPr>
          <a:xfrm>
            <a:off x="6439288" y="3540215"/>
            <a:ext cx="4829175" cy="16192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461FA-00E3-481C-22A7-9E335546FA63}"/>
              </a:ext>
            </a:extLst>
          </p:cNvPr>
          <p:cNvSpPr txBox="1"/>
          <p:nvPr/>
        </p:nvSpPr>
        <p:spPr>
          <a:xfrm>
            <a:off x="6668816" y="3859753"/>
            <a:ext cx="4370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(1): Defines how to get from the distribution at state y’ to the one at state y in 1 time-step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1CFF8-EDA7-9188-7764-8FD02FDA60F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638299" y="2106781"/>
            <a:ext cx="3629517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EF3F-6D3D-36D3-3F4B-E0A86C02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D753-F468-6BA9-25C1-9FF5B389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332D7-4E3B-9857-CDD6-8E8F90DD6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2FFA0A-389B-9F1A-B5A0-EDA7518F68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This is where the authors define the Markov Chain based on what we just talk about </a:t>
            </a:r>
            <a:r>
              <a:rPr lang="en-US" dirty="0"/>
              <a:t>–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DDD623-782D-71B6-8FB0-EC7C23B4B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D8A138-AB1B-3F46-0DE1-AFAE57853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B57AD5-50C6-37BA-ABC7-22A70204A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60711C-3CB1-30A8-9D25-A80984543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208585-9912-F441-3AD9-4624B2AC2A4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52474" y="2673746"/>
            <a:ext cx="1390651" cy="472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D992E8-EFE1-33F2-D360-1096A24E01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F92284-BA49-5D89-D7C5-F97A8E68B6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74DBC9-FD5B-A09F-1845-EBEF6FECEBC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474B81-AAB5-6FCC-AFA8-270FCFAB4F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87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931E-ABE8-504B-DA4F-3DD9B48C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E485-AAF0-B868-35D6-D288EB82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92CFC-1BA9-2A60-0FC6-D9C37B87D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D01655-1239-25C8-8ACE-974D2A787E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</a:t>
            </a:r>
            <a:r>
              <a:rPr lang="en-US" dirty="0">
                <a:solidFill>
                  <a:srgbClr val="FF0000"/>
                </a:solidFill>
              </a:rPr>
              <a:t>they say the probability of getting from state x</a:t>
            </a:r>
            <a:r>
              <a:rPr lang="en-US" baseline="30000" dirty="0">
                <a:solidFill>
                  <a:srgbClr val="FF0000"/>
                </a:solidFill>
              </a:rPr>
              <a:t>(t-1)</a:t>
            </a:r>
            <a:r>
              <a:rPr lang="en-US" dirty="0">
                <a:solidFill>
                  <a:srgbClr val="FF0000"/>
                </a:solidFill>
              </a:rPr>
              <a:t> to x</a:t>
            </a:r>
            <a:r>
              <a:rPr lang="en-US" baseline="30000" dirty="0">
                <a:solidFill>
                  <a:srgbClr val="FF0000"/>
                </a:solidFill>
              </a:rPr>
              <a:t>(t)</a:t>
            </a:r>
            <a:r>
              <a:rPr lang="en-US" dirty="0">
                <a:solidFill>
                  <a:srgbClr val="FF0000"/>
                </a:solidFill>
              </a:rPr>
              <a:t> is just the probability density assigned by the kernel in the time-step specific to t which is </a:t>
            </a:r>
            <a:r>
              <a:rPr lang="el-GR" dirty="0">
                <a:solidFill>
                  <a:srgbClr val="FF0000"/>
                </a:solidFill>
              </a:rPr>
              <a:t>β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DEDF60-2975-F9F5-1EB2-E700B6AFA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04581A-D071-9734-A061-13B013F42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D36C86-1152-22A9-5D5D-96CC965C7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C5E66A-877B-8B4C-3550-BA52AD89A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3E105C-0BBE-4397-BE01-9E7ACCA21FD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89455" y="2672715"/>
            <a:ext cx="3834920" cy="480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267023-CD8B-B1E0-6ACD-CADBD347FC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CF7F56-41C7-DD9D-4F7A-835B74BE79D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BEC41A-0D95-520E-11FB-DF93939184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E3CFC5-41AA-D5F2-849C-77ACFEB088E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40E2-30D4-D4E4-CDD5-97753B99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E5DD-EE24-6099-A852-7A4557B1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9B5FD-F0F3-5997-293B-8B5E03B1E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3C0B6E-B721-4AAB-7832-327DA46323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The diffusion kernel provides transition probabilities.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8D8AC-EC3A-0AD1-B1F0-4D05CCDE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ECD379-20E2-7F70-6E54-1D3276433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85351B-12E6-35D5-F565-40F05CFAA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E8B91F-E76B-EF2E-5D00-238B21A248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67003-B1F8-A954-4DFA-C1CABDEF8DF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344939" y="2670203"/>
            <a:ext cx="2007986" cy="5051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1A1088-9DBC-512E-48D1-2AEED427C3D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DFA123-FB91-D64E-5DA7-626EF3DA81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29B3F9-D4F8-3C84-BDFD-7D2A83C0F6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CD5BD-0B4F-245D-6D34-DC088E56CD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0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CEB4-233E-53B9-E0FF-3F3E7A24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B8FA-C35A-4C8C-5072-E9F93473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8637F1-018F-D0D8-E988-AC076660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67ABC6-7881-CC6F-6CFA-294EBA6F14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The specific kernels the authors use – in the appendix – are responsible for adding the Gaussian noise in the images.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DFA6A-FE2E-CA37-29A8-63F4093F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CF4FDC-0468-508D-F799-A62D79CA0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F032C0-9E2A-B41D-8A05-414E1A127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17EB06-4F4B-CC57-C119-03A0ED15F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1C15F3-864A-10EC-DD3C-433B7440AE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DE801B-F037-FDE0-FE4C-7B67F1346D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139E1B-3103-0A8B-8B63-93117DBBE3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305F24-7D58-D3A0-3FCA-72E44D8C03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5B5AE6-28F7-5B44-BD97-E24DDFB6749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762083" y="5391150"/>
            <a:ext cx="4505733" cy="7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19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412A-9A76-8763-A59C-2602F0EC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F5F5-F4C5-8679-ABC9-FBA04969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C4A4D-1DEF-A915-3733-F4ED30912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A494EB-5C7F-5A00-0F05-3D0FA07C8A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specific kernels the authors use – in the appendix – are responsible for adding the Gaussian noise in the images.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previous state x</a:t>
            </a:r>
            <a:r>
              <a:rPr lang="en-US" baseline="30000" dirty="0">
                <a:solidFill>
                  <a:srgbClr val="FF0000"/>
                </a:solidFill>
              </a:rPr>
              <a:t>(t-1)</a:t>
            </a:r>
            <a:r>
              <a:rPr lang="en-US" dirty="0">
                <a:solidFill>
                  <a:srgbClr val="FF0000"/>
                </a:solidFill>
              </a:rPr>
              <a:t> (you can think of it as the signal or structure from the data) is made smaller by multiplying by </a:t>
            </a:r>
            <a:r>
              <a:rPr lang="en-US" b="1" dirty="0">
                <a:solidFill>
                  <a:srgbClr val="FF0000"/>
                </a:solidFill>
              </a:rPr>
              <a:t>√ </a:t>
            </a:r>
            <a:r>
              <a:rPr lang="en-US" dirty="0">
                <a:solidFill>
                  <a:srgbClr val="FF0000"/>
                </a:solidFill>
              </a:rPr>
              <a:t>of 1-</a:t>
            </a:r>
            <a:r>
              <a:rPr lang="el-GR" dirty="0">
                <a:solidFill>
                  <a:srgbClr val="FF0000"/>
                </a:solidFill>
              </a:rPr>
              <a:t>β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741F9A-2A1E-5C86-B46C-8234D577A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B940D2-03C1-B0DD-DFC8-488EC990B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EC9156-6F7C-FF91-F447-4A4414233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4A2B08-2736-7A81-4E96-B1CCF56A7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325995-9A80-B8A0-2545-71C61A1DC8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E50A99-AE84-EF55-D211-A9AA6AAD27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A4F352-1979-B972-8375-61915CDF1E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CA3F54-782D-C09D-DF1C-993BE77BE9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EC4556-BDA6-838E-C0D7-9C875E70392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762083" y="5391150"/>
            <a:ext cx="2206637" cy="7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6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D361-D451-6FA6-9C26-0DFBE183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088E-BD55-8C47-1883-C2396E32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DE1BBD-FC55-4601-AF93-9F86EE2C1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A158C0-2A1B-22AD-8F6C-B14E213175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specific kernels the authors use – in the appendix – are responsible for adding the Gaussian noise in the images.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previous state x</a:t>
            </a:r>
            <a:r>
              <a:rPr lang="en-US" baseline="30000" dirty="0"/>
              <a:t>(t-1)</a:t>
            </a:r>
            <a:r>
              <a:rPr lang="en-US" dirty="0"/>
              <a:t> (you can think of it as the signal or structure from the data) is made smaller by multiplying by </a:t>
            </a:r>
            <a:r>
              <a:rPr lang="en-US" b="1" dirty="0"/>
              <a:t>√ </a:t>
            </a:r>
            <a:r>
              <a:rPr lang="en-US" dirty="0"/>
              <a:t>of 1-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And we add </a:t>
            </a:r>
            <a:r>
              <a:rPr lang="el-GR" dirty="0">
                <a:solidFill>
                  <a:srgbClr val="FF0000"/>
                </a:solidFill>
              </a:rPr>
              <a:t>β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 of covariance which is Gaussian noise.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15912C-768F-2D4E-E545-41830644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AA6FAA-2356-3FD7-7E9C-4B03DC089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57F29D-C73F-40AB-CCA9-801844CD3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077281-E3E7-C343-79AF-1952359B8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7005AA-0A92-C274-E949-6021DC0C96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6F1C5-2663-128A-9ED3-E14D9BFB02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DB162C-B6FD-4251-822A-1A7D9C3DB6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32CF69-6E1E-125C-E3F6-05A8BCC9B9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8C08F-73C2-2910-357C-39AFBB4801F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2480681" y="5852558"/>
            <a:ext cx="194192" cy="33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75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CE00-64D3-8110-406F-DA2C5D84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7785-ADE4-3E14-170E-26C7BFD2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5645C5-9453-575F-48CD-3B76D835F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5589A3-6B5C-D597-35F8-EA8D5EC0E59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specific kernels the authors use – in the appendix – are responsible for adding the Gaussian noise in the images.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previous state x</a:t>
            </a:r>
            <a:r>
              <a:rPr lang="en-US" baseline="30000" dirty="0"/>
              <a:t>(t-1)</a:t>
            </a:r>
            <a:r>
              <a:rPr lang="en-US" dirty="0"/>
              <a:t> (you can think of it as the signal or structure from the data) is made smaller by multiplying by </a:t>
            </a:r>
            <a:r>
              <a:rPr lang="en-US" b="1" dirty="0"/>
              <a:t>√ </a:t>
            </a:r>
            <a:r>
              <a:rPr lang="en-US" dirty="0"/>
              <a:t>of 1-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 And we add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 of covariance which is Gaussian noise.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For Binomial it’s almost easier to see what is happening </a:t>
            </a:r>
            <a:r>
              <a:rPr lang="en-US" dirty="0"/>
              <a:t>–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9F1D32-4CE4-D5F1-3FC1-D8CDBF6A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48FBE8-89FD-A215-8BAA-20850DB61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1FBF0D-FC7E-FA25-C017-7AD554947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88E328-3AF3-D532-87FD-2EEF0CF79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21C45-E266-2633-3B0D-BF7DEA1E69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878466-EA93-0F81-7F36-E5FA8DE935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B6B904-7A16-6AAE-F90F-35EA4810CF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BC3E15-C280-DA24-7530-EC78185930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0AA4D2-FB9A-4097-DF40-718E85E0EAE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2969109" y="5388678"/>
            <a:ext cx="2317519" cy="7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03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182F6-2CF8-F4C2-2DB5-78F0DE27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03D3-6814-B266-BF9E-71AC9BD6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290BA-D2DA-B092-5ACF-BF38ABBB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EDA661-6FB4-0AEE-1CC6-1208B5885D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specific kernels the authors use – in the appendix – are responsible for adding the Gaussian noise in the images.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previous state x</a:t>
            </a:r>
            <a:r>
              <a:rPr lang="en-US" baseline="30000" dirty="0"/>
              <a:t>(t-1)</a:t>
            </a:r>
            <a:r>
              <a:rPr lang="en-US" dirty="0"/>
              <a:t> (you can think of it as the signal or structure from the data) is made smaller by multiplying by </a:t>
            </a:r>
            <a:r>
              <a:rPr lang="en-US" b="1" dirty="0"/>
              <a:t>√ </a:t>
            </a:r>
            <a:r>
              <a:rPr lang="en-US" dirty="0"/>
              <a:t>of 1-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 And we add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 of covariance which is Gaussian noise.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Binomial it’s almost easier to see what is happening – </a:t>
            </a:r>
            <a:r>
              <a:rPr lang="en-US" dirty="0">
                <a:solidFill>
                  <a:srgbClr val="FF0000"/>
                </a:solidFill>
              </a:rPr>
              <a:t>it’s just a weighted sum between the previous state and the default value of ½ 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4D56D1-17F1-E666-ABBB-B6A37155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90140E-43DC-F3EF-8F99-10F12A984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5BC199-B7C8-0270-EAB9-C4F0075E4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6855DD-0417-AD7F-9827-752C4C7DA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1F85C8-2E99-3E40-EC87-2A69371C88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B4EC9E-2A86-BFDE-93D2-6097DC8502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650695-EA12-66B7-DEE2-AB7EE039B6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B0BCB6-2597-77D8-E5DD-1D2CFA6E82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9776D7-C14E-78A0-CE7F-7AA73F5B7AB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3552825" y="5855686"/>
            <a:ext cx="1673875" cy="3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52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B2E5-B243-4A1D-FC76-8B47BC73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2167-2CB8-C969-BE7C-B292A66A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58D50-1A24-9357-79FF-408037C77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C7CFA7-C199-CDD0-BE11-E5D7AB8E86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(2)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where the authors define the Markov Chain based on what we just talk about – they say the probability of getting from state x</a:t>
            </a:r>
            <a:r>
              <a:rPr lang="en-US" baseline="30000" dirty="0"/>
              <a:t>(t-1)</a:t>
            </a:r>
            <a:r>
              <a:rPr lang="en-US" dirty="0"/>
              <a:t> to x</a:t>
            </a:r>
            <a:r>
              <a:rPr lang="en-US" baseline="30000" dirty="0"/>
              <a:t>(t)</a:t>
            </a:r>
            <a:r>
              <a:rPr lang="en-US" dirty="0"/>
              <a:t> is just the probability density assigned by the kernel in the time-step specific to t which is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diffusion kernel provides transition probabilities.</a:t>
            </a:r>
          </a:p>
          <a:p>
            <a:pPr marL="742950" lvl="2" indent="-285750">
              <a:lnSpc>
                <a:spcPct val="80000"/>
              </a:lnSpc>
              <a:spcAft>
                <a:spcPts val="0"/>
              </a:spcAft>
              <a:buFontTx/>
              <a:buChar char="-"/>
            </a:pPr>
            <a:r>
              <a:rPr lang="en-US" dirty="0"/>
              <a:t>The specific kernels the authors use – in the appendix – are responsible for adding the Gaussian noise in the images.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previous state x</a:t>
            </a:r>
            <a:r>
              <a:rPr lang="en-US" baseline="30000" dirty="0"/>
              <a:t>(t-1)</a:t>
            </a:r>
            <a:r>
              <a:rPr lang="en-US" dirty="0"/>
              <a:t> (you can think of it as the signal or structure from the data) is made smaller by multiplying by </a:t>
            </a:r>
            <a:r>
              <a:rPr lang="en-US" b="1" dirty="0"/>
              <a:t>√ </a:t>
            </a:r>
            <a:r>
              <a:rPr lang="en-US" dirty="0"/>
              <a:t>of 1-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 And we add </a:t>
            </a:r>
            <a:r>
              <a:rPr lang="el-GR" dirty="0"/>
              <a:t>β</a:t>
            </a:r>
            <a:r>
              <a:rPr lang="en-US" baseline="-25000" dirty="0"/>
              <a:t>t</a:t>
            </a:r>
            <a:r>
              <a:rPr lang="en-US" dirty="0"/>
              <a:t> of covariance which is Gaussian noise.</a:t>
            </a:r>
          </a:p>
          <a:p>
            <a:pPr marL="2857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Binomial it’s almost easier to see what is happening – it’s just a weighted sum between the previous state and the default value of ½ 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986785-1C00-91B8-AE74-F2A098280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414876-4CAD-C480-6C57-C23BDC508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116369-B613-3A07-62D0-E2A5CF9BA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2B3D08-334B-9CE0-D194-CD0C7A647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E74650-14BF-DA41-94E7-ACAB7F58ED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71882" b="61656"/>
          <a:stretch>
            <a:fillRect/>
          </a:stretch>
        </p:blipFill>
        <p:spPr>
          <a:xfrm>
            <a:off x="670405" y="5298503"/>
            <a:ext cx="2206637" cy="42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0DEB7E-4DE1-0F1A-9A01-5B0B16FE4D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-1" r="-305" b="61973"/>
          <a:stretch>
            <a:fillRect/>
          </a:stretch>
        </p:blipFill>
        <p:spPr>
          <a:xfrm>
            <a:off x="2877042" y="5298503"/>
            <a:ext cx="2390775" cy="42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1F7C22-0153-79D6-9962-2CF249F8FA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698" r="71882" b="-11619"/>
          <a:stretch>
            <a:fillRect/>
          </a:stretch>
        </p:blipFill>
        <p:spPr>
          <a:xfrm>
            <a:off x="670405" y="5727259"/>
            <a:ext cx="2206637" cy="55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B89AA9-CF29-85A6-E6CD-C268C33C29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841" t="59797" r="-305" b="-11618"/>
          <a:stretch>
            <a:fillRect/>
          </a:stretch>
        </p:blipFill>
        <p:spPr>
          <a:xfrm>
            <a:off x="2877041" y="5723707"/>
            <a:ext cx="2390775" cy="580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7CBE36-DBD7-4C3B-3740-9364EC13C29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3552825" y="5855686"/>
            <a:ext cx="1673875" cy="327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216DE-650D-9DE5-438D-A5611FD8567B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D550B-3689-56EC-B088-94A7C5D43FE0}"/>
              </a:ext>
            </a:extLst>
          </p:cNvPr>
          <p:cNvSpPr/>
          <p:nvPr/>
        </p:nvSpPr>
        <p:spPr>
          <a:xfrm>
            <a:off x="6829425" y="3540215"/>
            <a:ext cx="3810000" cy="16192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FAB9F-5EA4-1FE7-1DFB-8FEED9E50B8E}"/>
              </a:ext>
            </a:extLst>
          </p:cNvPr>
          <p:cNvSpPr txBox="1"/>
          <p:nvPr/>
        </p:nvSpPr>
        <p:spPr>
          <a:xfrm>
            <a:off x="7130247" y="3888175"/>
            <a:ext cx="3218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(2): says that every link in the Markov chain is defined by the diffusion kernel</a:t>
            </a:r>
          </a:p>
        </p:txBody>
      </p:sp>
    </p:spTree>
    <p:extLst>
      <p:ext uri="{BB962C8B-B14F-4D97-AF65-F5344CB8AC3E}">
        <p14:creationId xmlns:p14="http://schemas.microsoft.com/office/powerpoint/2010/main" val="52576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5979-747F-C875-CC3E-6665076E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B84A-C113-458D-0D10-5DC8AA32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6A02D-D05F-6072-8306-038415279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AF7231-7959-36A9-C909-2F3663E23C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that we have our chain defined in Eq (2)… we can notice a useful property by combining the definition of the chain and the Markov property.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8FA1F6-7258-C08E-7695-0DD575C1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3B8F45-8289-5A25-395C-BDA76755C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977827-685B-ACDB-1755-EA314EEC8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14ECDB-2067-9786-C758-9AB590C8C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7000C-904E-E775-D3D6-D21D0C8E008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38200" y="3174785"/>
            <a:ext cx="4429617" cy="6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2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E28B-44AB-C502-4AAF-44223E4D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5462-E51A-04DF-DD46-45971145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EF4407-4D97-FB9E-D93A-620612932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B7688C-29C1-B9F6-73B0-C71BE69AA4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Now that we have our chain defined in Eq (2)… we can notice a useful property by combining the definition of the chain and the Markov property.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want to know the distribution of our data after doing T steps of diffusion (or T applications of our noise-adding kernels).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16A8F-5D1A-0F12-E94D-5E4BD47A0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7061D1-3E29-87EF-D5AB-ECC0EA160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F13C65-66E2-6E9C-1F02-622C78DA0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5F8FC1-492B-09D8-87D1-C75CF5386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2B1894-604E-3E85-E9A5-A3E6350D9E9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543050" y="3346024"/>
            <a:ext cx="219075" cy="2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39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B4F7-B7C1-9E26-D852-2013B604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1EA6-E2B0-5D3A-D1F7-C8582676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3538C-01C7-6732-5325-2E60EAE05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178DC0-E44F-2545-6CAC-E502052F91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Now that we have our chain defined in Eq (2)… we can notice a useful property by combining the definition of the chain and the Markov property.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If we want to know the distribution of our data after doing T steps of diffusion (or T applications of our noise-adding kernels).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with the probability of state x</a:t>
            </a:r>
            <a:r>
              <a:rPr lang="en-US" baseline="30000" dirty="0"/>
              <a:t>(0)</a:t>
            </a:r>
            <a:r>
              <a:rPr lang="en-US" dirty="0"/>
              <a:t>.</a:t>
            </a:r>
            <a:endParaRPr lang="en-US" baseline="30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DDCF33-4B4E-B168-DDA9-B0971AB3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BDB9CF-FFBE-B3BB-B6B2-319107D1B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21BF9A-B97E-173E-0056-56A78B859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79BCB-65A8-6FD1-1986-67A97ED38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EF3E07-C5AE-0000-AB5F-791AD2CADF7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127410" y="3244482"/>
            <a:ext cx="815815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97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CE32-9ED1-3FFA-0BBF-F9562FF9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5A01-B048-3730-A15A-51C96C90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C58DF-22C0-5ED5-CD4A-8B05879E1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EA4AEC-E577-7EBC-93DE-BC431BD2CB2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Now that we have our chain defined in Eq (2)… we can notice a useful property by combining the definition of the chain and the Markov property.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If we want to know the distribution of our data after doing T steps of diffusion (or T applications of our noise-adding kernels).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Start with the probability of state x</a:t>
            </a:r>
            <a:r>
              <a:rPr lang="en-US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US" baseline="30000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multiply the conditional probabilities of the next state based on the previous state.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0D3A25-F91A-769E-B143-46AB4AAB7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240210-A237-BC7E-80A8-0590F432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A9E017-1778-2F0F-85CE-F219D20EC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6701C6-8640-86F4-A240-922C77F23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3FFB5-6DBC-478B-18A0-BD33F62C7EF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933700" y="3174785"/>
            <a:ext cx="1670383" cy="6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08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6CB6-026B-0551-04F0-18FE92B1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B0C2-DE41-22AD-9737-6F440ED88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0CC57-A424-BFAE-C963-C8051F048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81579F-23E2-322C-390A-5474B90741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At this point we have covered the 3 equations that define the forward diffusion process that takes us from data to Gaussian noise.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04B067-D194-0998-F37B-EC0461D37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DF958B-3569-8716-C33B-47E669C6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E54FC4-F53C-F08E-5A2F-5FEC19480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7B7902-9554-9B5D-D353-29E957025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EBB864-307B-97B8-1385-1220C864720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14399" y="3953341"/>
            <a:ext cx="4372229" cy="4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70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6A66-CFE8-0ED8-958D-B12447A8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202A-ED72-3BB2-924C-16B6EFE5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0BE57-5BAD-E959-4524-0890BF3B6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04BC39-F610-EB2D-051B-4A564F20E0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this point we have covered the 3 equations that define the forward diffusion process that takes us from data to Gaussian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Eq (4) &amp; (5) are describing the reverse process and remember this must be learned step by step.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66E82-0590-9C8A-67CF-E540AA3E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62EC31-36CE-0B86-55FF-C4B740A1E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3A3E91-1A64-76DE-372E-599C3DBAA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F6B799-3833-A50B-6933-A060B114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E594D-E34A-0CA5-B3F7-B9F6FE0C7B3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7060" y="4488845"/>
            <a:ext cx="4629568" cy="621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193916-F6B4-1B6B-9B35-B03951A8998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52500" y="3881993"/>
            <a:ext cx="4334128" cy="5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96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7A156-5108-9044-E8C4-605EF426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B7D7-637A-C41B-F437-335AE2F4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5D8AB-259B-B568-ED9C-02704268B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370267-3E63-76AF-62B6-B56DB44101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this point we have covered the 3 equations that define the forward diffusion process that takes us from data to Gaussian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 (4) &amp; (5) are describing the reverse process and remember this must be learned step by step.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01A34E-B995-25AF-6B8E-DB6CA7F8F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F06B64-2E42-666D-AC6D-C577B2CE8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4C7111-E179-A64C-9129-547EC72B1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B99868-EA71-9A95-C8AF-C3B29FA20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A60069-AD01-3BEC-3914-EB1FBB5F33C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14399" y="3924766"/>
            <a:ext cx="909761" cy="5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B9E25-DDC5-0078-B0D0-2955240617B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925244" y="3910568"/>
            <a:ext cx="909761" cy="578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7C0F55-CBE1-D253-AC78-57E5E7332495}"/>
              </a:ext>
            </a:extLst>
          </p:cNvPr>
          <p:cNvSpPr txBox="1"/>
          <p:nvPr/>
        </p:nvSpPr>
        <p:spPr>
          <a:xfrm>
            <a:off x="7211191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</p:spTree>
    <p:extLst>
      <p:ext uri="{BB962C8B-B14F-4D97-AF65-F5344CB8AC3E}">
        <p14:creationId xmlns:p14="http://schemas.microsoft.com/office/powerpoint/2010/main" val="685258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4FF4-727C-6C7E-F828-83864B51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C333-F0D7-8E9A-3303-0FD4DB85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AC9F02-A9C0-8BB8-0663-9BD5D9610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55C109-8CC4-06A5-605C-01E1A227D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this point we have covered the 3 equations that define the forward diffusion process that takes us from data to Gaussian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 (4) &amp; (5) are describing the reverse process and remember this must be learned step by step.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515A4C-0468-8BFF-44BD-860E94011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35A158-1913-9FE9-ACB7-57098B344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DEF93-8E41-8705-167F-69ED33D00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BD9E75-59C8-5016-C338-CD160A3EC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182C63-AB66-2805-6F1E-6B2D757E256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14399" y="3924766"/>
            <a:ext cx="909761" cy="5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6340B-30A5-985B-7358-4FF683B4E4A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925244" y="3910568"/>
            <a:ext cx="909761" cy="578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30191-DDD4-1AAC-ACDA-502144A2F88F}"/>
              </a:ext>
            </a:extLst>
          </p:cNvPr>
          <p:cNvSpPr txBox="1"/>
          <p:nvPr/>
        </p:nvSpPr>
        <p:spPr>
          <a:xfrm>
            <a:off x="7211191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E466F-2200-3BBD-B3F1-8B24E67F0468}"/>
              </a:ext>
            </a:extLst>
          </p:cNvPr>
          <p:cNvSpPr/>
          <p:nvPr/>
        </p:nvSpPr>
        <p:spPr>
          <a:xfrm>
            <a:off x="6373463" y="3540214"/>
            <a:ext cx="4829175" cy="26040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12387-4197-01AD-833A-3B641423F152}"/>
              </a:ext>
            </a:extLst>
          </p:cNvPr>
          <p:cNvSpPr txBox="1"/>
          <p:nvPr/>
        </p:nvSpPr>
        <p:spPr>
          <a:xfrm>
            <a:off x="6602991" y="3859753"/>
            <a:ext cx="437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(4): Is just notation saying something we already know… </a:t>
            </a:r>
            <a:r>
              <a:rPr lang="en-US" dirty="0"/>
              <a:t>the reverse chain at step T is just the well-behaved tractable distribution we forced it to be… this is just defining the starting point of the reverse distribution </a:t>
            </a:r>
          </a:p>
        </p:txBody>
      </p:sp>
    </p:spTree>
    <p:extLst>
      <p:ext uri="{BB962C8B-B14F-4D97-AF65-F5344CB8AC3E}">
        <p14:creationId xmlns:p14="http://schemas.microsoft.com/office/powerpoint/2010/main" val="2973824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545D-DCB3-CD11-96F9-00412BF77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7BAC3-095F-DBB2-9E39-E76B21D5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842E2-CEED-7D85-6360-8CE649D1F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8ACD11-EAAD-A5D9-9943-6B5E894DB4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this point we have covered the 3 equations that define the forward diffusion process that takes us from data to Gaussian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 (4) &amp; (5) are describing the reverse process and remember this must be learned step by step.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D9B361-0698-C4DC-0BC9-E43144F6D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EC09D-EABE-6779-98FC-B901BA5AE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C10387-E1A5-C996-3A34-648C4CE2D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74390A-7D65-F33D-9203-BA7F9592B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84B8D-F687-9894-53F9-20CE7CD67DC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14399" y="3924766"/>
            <a:ext cx="909761" cy="5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B702F-09D5-B8DB-57CE-192BBDF16F6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925244" y="3910568"/>
            <a:ext cx="909761" cy="578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DA76A0-D6D7-3337-8B7C-CCB9F77FDA37}"/>
              </a:ext>
            </a:extLst>
          </p:cNvPr>
          <p:cNvSpPr txBox="1"/>
          <p:nvPr/>
        </p:nvSpPr>
        <p:spPr>
          <a:xfrm>
            <a:off x="7211191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72C50C-77F3-9D37-EEC6-F7D0FF3ADB3A}"/>
              </a:ext>
            </a:extLst>
          </p:cNvPr>
          <p:cNvSpPr/>
          <p:nvPr/>
        </p:nvSpPr>
        <p:spPr>
          <a:xfrm>
            <a:off x="6373463" y="3540214"/>
            <a:ext cx="4829175" cy="26040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4A374-2695-684D-FC1F-5CF267B96074}"/>
              </a:ext>
            </a:extLst>
          </p:cNvPr>
          <p:cNvSpPr txBox="1"/>
          <p:nvPr/>
        </p:nvSpPr>
        <p:spPr>
          <a:xfrm>
            <a:off x="6602991" y="3859753"/>
            <a:ext cx="437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(4): Is just notation saying something we already know… the reverse chain at step T is just the well-behaved tractable distribution we forced it to be… </a:t>
            </a:r>
            <a:r>
              <a:rPr lang="en-US" dirty="0"/>
              <a:t>this is just defining the starting point of the reverse distribution </a:t>
            </a:r>
          </a:p>
        </p:txBody>
      </p:sp>
    </p:spTree>
    <p:extLst>
      <p:ext uri="{BB962C8B-B14F-4D97-AF65-F5344CB8AC3E}">
        <p14:creationId xmlns:p14="http://schemas.microsoft.com/office/powerpoint/2010/main" val="1294547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C7FB-66F4-39B5-9817-066A1134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78C7-364C-F7D6-52B5-8C010E1F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8519B-7925-219E-3C80-D87EB252A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A70EA6-2BEA-99AD-FAF2-2A69B5455F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this point we have covered the 3 equations that define the forward diffusion process that takes us from data to Gaussian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 (4) &amp; (5) are describing the reverse process and remember this must be learned step by step.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BDC6C4-156A-5A00-C4AF-309AAEFD2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5E9096-3F14-DD4D-1B2B-83636B6FD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25685F-5326-45BE-8AA8-BC873671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7D2EFF-BDDA-4F03-C599-1A6EC6DFA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99A9A-F5F7-AFC3-528F-1355AD901E3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914399" y="3924766"/>
            <a:ext cx="909761" cy="5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BD2C1F-3B14-474B-4FEC-4F2EA50FF51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925244" y="3910568"/>
            <a:ext cx="909761" cy="578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AD07C5-C5BD-3413-4128-52BA935AF40B}"/>
              </a:ext>
            </a:extLst>
          </p:cNvPr>
          <p:cNvSpPr txBox="1"/>
          <p:nvPr/>
        </p:nvSpPr>
        <p:spPr>
          <a:xfrm>
            <a:off x="7211191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88B9B-73F3-5747-5961-DB23308E76BE}"/>
              </a:ext>
            </a:extLst>
          </p:cNvPr>
          <p:cNvSpPr/>
          <p:nvPr/>
        </p:nvSpPr>
        <p:spPr>
          <a:xfrm>
            <a:off x="6373463" y="3540214"/>
            <a:ext cx="4829175" cy="26040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1D44E1-0A65-202A-5B66-2F6E7089B3CD}"/>
              </a:ext>
            </a:extLst>
          </p:cNvPr>
          <p:cNvSpPr txBox="1"/>
          <p:nvPr/>
        </p:nvSpPr>
        <p:spPr>
          <a:xfrm>
            <a:off x="6602991" y="3859753"/>
            <a:ext cx="437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(4): Is just notation saying something we already know… the reverse chain at step T is just the well-behaved tractable distribution we forced it to be… this is just defining the starting point of the reverse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091799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B7AB-4AD8-773D-5C30-F6439FCE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07ED-7C1C-FBF8-7164-EDBA63FA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D14D9-031C-401C-60C4-A657CDA90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BBC6C4-9CFC-E733-5FDE-23C5404CA4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B041C-D59B-B735-33DD-9102D5965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9D61D6-1521-31FD-91F5-10C5AC8F9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5485F9-7FA5-E5EE-2FA7-689F1E959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204F2B-F72D-650C-FC7D-BD127D0E5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0BC67F-F3F8-F046-411E-50661081C59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33426" y="4422024"/>
            <a:ext cx="4593538" cy="737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BD40A6-E8C7-E6C2-BCE5-2A3FF443B106}"/>
              </a:ext>
            </a:extLst>
          </p:cNvPr>
          <p:cNvSpPr txBox="1"/>
          <p:nvPr/>
        </p:nvSpPr>
        <p:spPr>
          <a:xfrm>
            <a:off x="6602991" y="3859753"/>
            <a:ext cx="43701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(4): Is just notation saying something we already know… the reverse chain at step T is just the well-behaved tractable distribution we forced it to be… remember the reverse chain starts at step T and moves to step 0… so this is just defining the starting point of the reverse distribution </a:t>
            </a:r>
          </a:p>
        </p:txBody>
      </p:sp>
    </p:spTree>
    <p:extLst>
      <p:ext uri="{BB962C8B-B14F-4D97-AF65-F5344CB8AC3E}">
        <p14:creationId xmlns:p14="http://schemas.microsoft.com/office/powerpoint/2010/main" val="2321449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3FEA-F296-DD31-D2A8-46B3F93C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F61B-B1A0-89FF-0323-1F4565E7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4856281" cy="1691640"/>
          </a:xfrm>
          <a:noFill/>
        </p:spPr>
        <p:txBody>
          <a:bodyPr anchor="ctr"/>
          <a:lstStyle/>
          <a:p>
            <a:pPr algn="l"/>
            <a:r>
              <a:rPr lang="en-US" dirty="0"/>
              <a:t>Model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9C0FC-F389-18B5-1E7D-933BF1ABB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C1F07E-1258-B663-6444-495DE77AE2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9984" y="1395663"/>
            <a:ext cx="6538660" cy="5363957"/>
          </a:xfrm>
        </p:spPr>
        <p:txBody>
          <a:bodyPr>
            <a:normAutofit/>
          </a:bodyPr>
          <a:lstStyle/>
          <a:p>
            <a:r>
              <a:rPr lang="en-US" dirty="0"/>
              <a:t>Equation (5)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A165FA-91AD-E786-765A-F10DE7BC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4" y="2024780"/>
            <a:ext cx="5111879" cy="11955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7D5D6B-30E4-BDEB-D0F3-EEF29F90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29" y="3146210"/>
            <a:ext cx="4993588" cy="7703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376EAD-F6E4-1235-1E78-30382FEA2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6" y="3916597"/>
            <a:ext cx="5084461" cy="1242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C85CB4-9EB5-7F71-9C06-C1D5D1D9D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8" y="1028700"/>
            <a:ext cx="10004403" cy="207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9C845-5D00-397E-BE20-E0718A246B5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5567" y="4532003"/>
            <a:ext cx="1198615" cy="5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CC26BB-70BF-7A67-1FC3-8B12D6389DB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037538" y="4364874"/>
            <a:ext cx="2694883" cy="794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74FDA-2972-CFE7-86D4-C8DD459B3849}"/>
              </a:ext>
            </a:extLst>
          </p:cNvPr>
          <p:cNvSpPr txBox="1"/>
          <p:nvPr/>
        </p:nvSpPr>
        <p:spPr>
          <a:xfrm>
            <a:off x="6897102" y="2188226"/>
            <a:ext cx="3684424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ESSENTIALLY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A3109-F5DD-07D9-9CD4-4B22E984D1CB}"/>
              </a:ext>
            </a:extLst>
          </p:cNvPr>
          <p:cNvSpPr/>
          <p:nvPr/>
        </p:nvSpPr>
        <p:spPr>
          <a:xfrm>
            <a:off x="6373461" y="3680539"/>
            <a:ext cx="4829175" cy="1368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F6B3F-4BE3-B457-F657-6F03F24A64BF}"/>
              </a:ext>
            </a:extLst>
          </p:cNvPr>
          <p:cNvSpPr txBox="1"/>
          <p:nvPr/>
        </p:nvSpPr>
        <p:spPr>
          <a:xfrm>
            <a:off x="6602991" y="3859753"/>
            <a:ext cx="4370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(5): Is just the same equation from Eq (3) but for the reverse chain – which is why we move from x</a:t>
            </a:r>
            <a:r>
              <a:rPr lang="en-US" baseline="30000" dirty="0">
                <a:solidFill>
                  <a:schemeClr val="bg1"/>
                </a:solidFill>
              </a:rPr>
              <a:t>(t)</a:t>
            </a:r>
            <a:r>
              <a:rPr lang="en-US" dirty="0">
                <a:solidFill>
                  <a:schemeClr val="bg1"/>
                </a:solidFill>
              </a:rPr>
              <a:t> to x</a:t>
            </a:r>
            <a:r>
              <a:rPr lang="en-US" baseline="30000" dirty="0">
                <a:solidFill>
                  <a:schemeClr val="bg1"/>
                </a:solidFill>
              </a:rPr>
              <a:t>(t-1)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789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B51F-6BB3-7C04-CD22-2B8D2CED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2BF1-8DE7-5D04-EA45-2B465963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7642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7E211-D586-A7C4-E415-039D263E8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79C519-9738-89B5-12DF-D7FCBC3E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701E1-4FFD-1818-94E6-67390E0F0E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5C0F01-4908-D91C-8612-67EBBAA138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AEF70F-F640-9900-8A4B-6F065CDB7A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28AA5F-2DC4-A073-F06F-861488B32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4634F05-8196-70FC-E299-3D83531110EB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Now that we have our models we want to know what the model says about x</a:t>
            </a:r>
            <a:r>
              <a:rPr lang="en-US" sz="1800" baseline="30000" dirty="0">
                <a:solidFill>
                  <a:srgbClr val="FF0000"/>
                </a:solidFill>
              </a:rPr>
              <a:t>(0) </a:t>
            </a:r>
            <a:r>
              <a:rPr lang="en-US" sz="1800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DF2D8-4608-9E55-7624-78D0BA43CA7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04080" y="1577057"/>
            <a:ext cx="949568" cy="4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22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BBAD-1304-E8D5-2E15-0679C140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3E4C-30B5-7257-D844-9F38106D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7642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941C0-C837-8D65-838E-555C89277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EFE03-488A-9E22-9B1B-821FEF112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94DBFE-3755-758C-7DA5-7F8910508E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886802-DF7C-4C69-D47D-D0DF23CEA5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1464BB-CAA6-0066-EC84-29392D8F3A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E6BD15-2628-1C6D-2F5D-7C00E98D4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3E7B05B-ED95-F695-5C30-2D64C8265753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0" indent="0">
              <a:buNone/>
            </a:pPr>
            <a:r>
              <a:rPr lang="en-US" sz="1800" dirty="0"/>
              <a:t>Now that we have our models we want to know what the model says about x</a:t>
            </a:r>
            <a:r>
              <a:rPr lang="en-US" sz="1800" baseline="30000" dirty="0"/>
              <a:t>(0) </a:t>
            </a:r>
            <a:r>
              <a:rPr lang="en-US" sz="1800" dirty="0"/>
              <a:t>…</a:t>
            </a:r>
            <a:r>
              <a:rPr lang="en-US" sz="1800" dirty="0">
                <a:solidFill>
                  <a:srgbClr val="FF0000"/>
                </a:solidFill>
              </a:rPr>
              <a:t>why do we care?...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D044C-2EDE-F94B-2C01-685A01FD47E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04080" y="1577057"/>
            <a:ext cx="949568" cy="4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34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071B-7A20-DDEE-DDF7-40C2AA7C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C8FB-3ED1-9347-9E3C-2C166126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7642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ED79E-AE8C-366A-ED1E-C70BACFD0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93433-BCAA-A944-9EB6-4DB4FD1BD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FD0F35-6156-AFFD-6D1D-F55AE7E025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B4FAAE-79F7-BA9C-C223-D1B48F0490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FA4395-E90F-5336-A77C-B49B4BCD3B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48C36B-4205-F195-D935-4F18151C9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B63BF3A-00C7-5A0D-6B67-C3FD7C45592E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0" indent="0">
              <a:buNone/>
            </a:pPr>
            <a:r>
              <a:rPr lang="en-US" sz="1800" dirty="0"/>
              <a:t>Now that we have our models we want to know what the model says about x</a:t>
            </a:r>
            <a:r>
              <a:rPr lang="en-US" sz="1800" baseline="30000" dirty="0"/>
              <a:t>(0) </a:t>
            </a:r>
            <a:r>
              <a:rPr lang="en-US" sz="1800" dirty="0"/>
              <a:t>…why do we care?... </a:t>
            </a:r>
            <a:r>
              <a:rPr lang="en-US" sz="1800" dirty="0">
                <a:solidFill>
                  <a:srgbClr val="FF0000"/>
                </a:solidFill>
              </a:rPr>
              <a:t>Remember we need p(x</a:t>
            </a:r>
            <a:r>
              <a:rPr lang="en-US" sz="1800" baseline="30000" dirty="0">
                <a:solidFill>
                  <a:srgbClr val="FF0000"/>
                </a:solidFill>
              </a:rPr>
              <a:t>(0)</a:t>
            </a:r>
            <a:r>
              <a:rPr lang="en-US" sz="1800" dirty="0">
                <a:solidFill>
                  <a:srgbClr val="FF0000"/>
                </a:solidFill>
              </a:rPr>
              <a:t>) to do inference –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DD950-FFCE-2768-F0D3-E4E02B9F581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04080" y="1577057"/>
            <a:ext cx="949568" cy="4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8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78BC-0832-2C42-A858-665405B2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C445-1A4A-9376-7E26-9D9FCC6F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7642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1773E-8C82-EEE8-6E9F-7AEB7A025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7EA5EE-30B7-6605-70CD-94A3B84C4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B68E47-A37A-58A1-D641-509C04A658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9CA6F1-9C74-67CB-5B8A-5B65956EE4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CC2F39-004B-15DD-3AC2-51D5EDB2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2B08C7-91FA-3FF8-9EF7-B54E47CB5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82D2713-D7B0-42E8-30B8-36F2A68421EF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0" indent="0">
              <a:buNone/>
            </a:pPr>
            <a:r>
              <a:rPr lang="en-US" sz="1800" dirty="0"/>
              <a:t>Now that we have our models we want to know what the model says about x</a:t>
            </a:r>
            <a:r>
              <a:rPr lang="en-US" sz="1800" baseline="30000" dirty="0"/>
              <a:t>(0) </a:t>
            </a:r>
            <a:r>
              <a:rPr lang="en-US" sz="1800" dirty="0"/>
              <a:t>…why do we care?... Remember we need p(x</a:t>
            </a:r>
            <a:r>
              <a:rPr lang="en-US" sz="1800" baseline="30000" dirty="0"/>
              <a:t>(0)</a:t>
            </a:r>
            <a:r>
              <a:rPr lang="en-US" sz="1800" dirty="0"/>
              <a:t>) to do inference – </a:t>
            </a:r>
            <a:r>
              <a:rPr lang="en-US" sz="1800" dirty="0">
                <a:solidFill>
                  <a:srgbClr val="FF0000"/>
                </a:solidFill>
              </a:rPr>
              <a:t>but we cannot compute it directly, so the authors do some rearranging.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4C27A-2D31-44B0-A518-5340DBE102E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04080" y="1577057"/>
            <a:ext cx="949568" cy="41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45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D116-64C1-CA35-C097-1F297875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7C36-05E2-1BFB-3669-DC6A3132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070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DC2690-FAD1-8D63-73DE-A5DAFB149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69AAE7-5E97-9208-EE92-9CEF6D333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9D93F-8A82-11D5-A3AB-86510C62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8BC6F1-514A-CBAC-334F-FCD8688C1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162969-60A7-830D-B1E8-2DAFDAF29A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3DFC21-7439-9CF7-AE2A-A6BE2FD98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51C2854-4FF7-DD0D-271A-CE646F7BF06B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285750" indent="-285750"/>
            <a:r>
              <a:rPr lang="en-US" sz="1800" dirty="0">
                <a:solidFill>
                  <a:srgbClr val="FF0000"/>
                </a:solidFill>
              </a:rPr>
              <a:t>You might be wondering why is p(x</a:t>
            </a:r>
            <a:r>
              <a:rPr lang="en-US" sz="1800" baseline="30000" dirty="0">
                <a:solidFill>
                  <a:srgbClr val="FF0000"/>
                </a:solidFill>
              </a:rPr>
              <a:t>(0)</a:t>
            </a:r>
            <a:r>
              <a:rPr lang="en-US" sz="1800" dirty="0">
                <a:solidFill>
                  <a:srgbClr val="FF0000"/>
                </a:solidFill>
              </a:rPr>
              <a:t>) = ∫ of the joint probability of x</a:t>
            </a:r>
            <a:r>
              <a:rPr lang="en-US" sz="1800" baseline="30000" dirty="0">
                <a:solidFill>
                  <a:srgbClr val="FF0000"/>
                </a:solidFill>
              </a:rPr>
              <a:t>(0…T)</a:t>
            </a:r>
            <a:r>
              <a:rPr lang="en-US" sz="1800" dirty="0">
                <a:solidFill>
                  <a:srgbClr val="FF0000"/>
                </a:solidFill>
              </a:rPr>
              <a:t> and dx</a:t>
            </a:r>
            <a:r>
              <a:rPr lang="en-US" sz="1800" baseline="30000" dirty="0">
                <a:solidFill>
                  <a:srgbClr val="FF0000"/>
                </a:solidFill>
              </a:rPr>
              <a:t>(1…T)</a:t>
            </a:r>
            <a:r>
              <a:rPr lang="en-US" sz="1800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36754-8C27-6744-E025-B4E20A77E54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021808" y="1518979"/>
            <a:ext cx="1016792" cy="510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DEF05-1F58-C7CC-8AB3-F3E1E7A9DDB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089460" y="1528850"/>
            <a:ext cx="901389" cy="51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94DF-4231-6F78-211E-32829628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7B43-895B-B0BE-23D5-BD4DB6F3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070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E6F19-0FD6-9949-F266-107C9F9E8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53035-D1C0-91F1-97D7-201381412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B92B40-711D-4B53-08F9-B78B8561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DC176F-7277-0C48-8AD0-AEE813E9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64D0AB-D97A-4FE5-DBF5-08DE928775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C196D5-C68A-E825-D4AB-DB67240DB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87E022C-3C22-CA65-177C-C94B5507B081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285750" indent="-285750"/>
            <a:r>
              <a:rPr lang="en-US" sz="1800" dirty="0"/>
              <a:t>You might be wondering why is p(x</a:t>
            </a:r>
            <a:r>
              <a:rPr lang="en-US" sz="1800" baseline="30000" dirty="0"/>
              <a:t>(0)</a:t>
            </a:r>
            <a:r>
              <a:rPr lang="en-US" sz="1800" dirty="0"/>
              <a:t>) = ∫ of the joint probability of x</a:t>
            </a:r>
            <a:r>
              <a:rPr lang="en-US" sz="1800" baseline="30000" dirty="0"/>
              <a:t>(0…T)</a:t>
            </a:r>
            <a:r>
              <a:rPr lang="en-US" sz="1800" dirty="0"/>
              <a:t> and dx</a:t>
            </a:r>
            <a:r>
              <a:rPr lang="en-US" sz="1800" baseline="30000" dirty="0"/>
              <a:t>(1…T)</a:t>
            </a:r>
            <a:r>
              <a:rPr lang="en-US" sz="1800" dirty="0"/>
              <a:t>… </a:t>
            </a:r>
            <a:r>
              <a:rPr lang="en-US" sz="1800" dirty="0">
                <a:solidFill>
                  <a:srgbClr val="FF0000"/>
                </a:solidFill>
              </a:rPr>
              <a:t>well remember if we have the joint distribution p(x</a:t>
            </a:r>
            <a:r>
              <a:rPr lang="en-US" sz="1800" baseline="30000" dirty="0">
                <a:solidFill>
                  <a:srgbClr val="FF0000"/>
                </a:solidFill>
              </a:rPr>
              <a:t>(0…T)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5BAEE-6214-12B9-ED71-3FD8AFDABA2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000375" y="1547553"/>
            <a:ext cx="1114426" cy="4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0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179B-19B5-AEDB-FD5A-07B539CC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69F-3C64-ACC0-F346-43CA2EBC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070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A4A3A-119C-D63B-F08A-3DA23365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A66A96-219E-BA16-98C9-77C175B9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427D5E-EDC4-70A2-6320-2F9D9038BD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CB1413-BF09-90A2-91CC-E9339055C9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08CE64-B680-D90C-C696-709BDD6323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071383-4AC1-929B-3E64-010743B21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F2DDF46-25A0-C507-5988-B1D659581390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Equation (6)</a:t>
            </a:r>
          </a:p>
          <a:p>
            <a:pPr marL="285750" indent="-285750"/>
            <a:r>
              <a:rPr lang="en-US" sz="1800" dirty="0"/>
              <a:t>You might be wondering why is p(x</a:t>
            </a:r>
            <a:r>
              <a:rPr lang="en-US" sz="1800" baseline="30000" dirty="0"/>
              <a:t>(0)</a:t>
            </a:r>
            <a:r>
              <a:rPr lang="en-US" sz="1800" dirty="0"/>
              <a:t>) = ∫ of the joint probability of x</a:t>
            </a:r>
            <a:r>
              <a:rPr lang="en-US" sz="1800" baseline="30000" dirty="0"/>
              <a:t>(0…T)</a:t>
            </a:r>
            <a:r>
              <a:rPr lang="en-US" sz="1800" dirty="0"/>
              <a:t> and dx</a:t>
            </a:r>
            <a:r>
              <a:rPr lang="en-US" sz="1800" baseline="30000" dirty="0"/>
              <a:t>(1…T)</a:t>
            </a:r>
            <a:r>
              <a:rPr lang="en-US" sz="1800" dirty="0"/>
              <a:t>… well remember if we have the joint distribution p(x</a:t>
            </a:r>
            <a:r>
              <a:rPr lang="en-US" sz="1800" baseline="30000" dirty="0"/>
              <a:t>(0…T)</a:t>
            </a:r>
            <a:r>
              <a:rPr lang="en-US" sz="1800" dirty="0"/>
              <a:t>) </a:t>
            </a:r>
            <a:r>
              <a:rPr lang="en-US" sz="1800" dirty="0">
                <a:solidFill>
                  <a:srgbClr val="FF0000"/>
                </a:solidFill>
              </a:rPr>
              <a:t>then we can find the marginal p(x</a:t>
            </a:r>
            <a:r>
              <a:rPr lang="en-US" sz="1800" baseline="30000" dirty="0">
                <a:solidFill>
                  <a:srgbClr val="FF0000"/>
                </a:solidFill>
              </a:rPr>
              <a:t>(0)</a:t>
            </a:r>
            <a:r>
              <a:rPr lang="en-US" sz="1800" dirty="0">
                <a:solidFill>
                  <a:srgbClr val="FF0000"/>
                </a:solidFill>
              </a:rPr>
              <a:t>) by integrating over all the possible values of the other variables in the joint 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6F617-A773-54D5-0118-2A525972E28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047875" y="1518978"/>
            <a:ext cx="2066926" cy="54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27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E254-544B-ECB8-E155-02FB6797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4DCA-6747-F8DD-37BE-75549FE8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55084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7A0F0-7795-04E7-8526-FDEB734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7F00E8-53C4-B0FE-3368-C823F02CA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94A3D9-E701-B36D-3EFF-3A4CAB3CE9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BA8EFC-6298-F8EE-A439-2F3D20966E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63B5FF-7653-CE9C-E7FB-E66422086A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28C485-851E-B066-921F-DC53DE298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A4AC4A0-E902-5E28-8653-96DC06E4D3D0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(7)</a:t>
            </a:r>
          </a:p>
          <a:p>
            <a:r>
              <a:rPr lang="en-US" sz="1700" dirty="0"/>
              <a:t>This is just Eq (6) </a:t>
            </a:r>
            <a:r>
              <a:rPr lang="en-US" sz="1800" b="1" dirty="0"/>
              <a:t>× </a:t>
            </a:r>
            <a:r>
              <a:rPr lang="en-US" sz="1800" dirty="0"/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9D755-1AC3-E080-7905-3C42305E394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50777" y="2248634"/>
            <a:ext cx="949568" cy="41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AFDBC-B13E-4B07-068E-39B25837AA4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146946" y="2034792"/>
            <a:ext cx="3501254" cy="71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43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77C0-D53A-7460-0397-9742989E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FF69-6D51-726E-F12D-54516029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374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B1D1C-68B7-5EAD-284F-F4C65CD98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DBDA42-B03F-0C35-6689-79002DBD1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960F00-0B4B-58AE-7D40-73963CA9D9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405F1B-96CD-6F17-3B60-E236C266F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E2EC92-8984-7DF4-9FA0-F48FE6AEEB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EF82B6-4BCD-A89F-EF05-B84E4FB91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2106192-C060-9BD2-CA05-3C3838BC6632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(8)</a:t>
            </a:r>
          </a:p>
          <a:p>
            <a:r>
              <a:rPr lang="en-US" sz="1800" dirty="0">
                <a:solidFill>
                  <a:srgbClr val="FF0000"/>
                </a:solidFill>
              </a:rPr>
              <a:t>All we did here are is SWAP the terms…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AC63D-046D-1FBB-4205-124B5ECF53A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62245" y="2907459"/>
            <a:ext cx="4134912" cy="6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51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0D80-3AF3-F85E-DC40-B9675B2C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8DA1-6252-9D31-7976-E3407FD1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374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F6F85-4E1D-428E-BA9E-DE16C99E4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98FB2-DECB-CBC7-20E6-43E3D11C9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E2D1F1-AC80-9E98-F330-E67BECB00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411C42-DA68-FDB4-F301-758ECD0981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F2AC06-78FC-E416-A789-C65AC0B0D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B5F6E6-A60F-3A5C-6062-2510AA713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E446E7-0999-F876-5484-E600CFEF0972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(8)</a:t>
            </a:r>
          </a:p>
          <a:p>
            <a:r>
              <a:rPr lang="en-US" sz="1800" dirty="0"/>
              <a:t>All we did here are is SWAP the terms…</a:t>
            </a:r>
            <a:r>
              <a:rPr lang="en-US" sz="1800" dirty="0">
                <a:solidFill>
                  <a:srgbClr val="FF0000"/>
                </a:solidFill>
              </a:rPr>
              <a:t>we swap where the terms are… but it is still the same equation.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69E13-85E0-5996-B72E-5935AAFE4C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62245" y="2907459"/>
            <a:ext cx="4134912" cy="6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96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309C-7DC0-7516-FB1E-A9658F23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69F1-D8BC-C045-B94B-0D955C0D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374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86C211-4299-3876-7444-7C134574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4C0F1-2875-8A9D-5CD7-B7BC35584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DC3BCC-51D6-230C-04FC-49C7CD04D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001429-8A2A-D58F-F8B8-B2570F667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1606D8-89B2-21A6-3829-2588C59792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28D570-8DA3-8800-5965-C1B5907F6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F22EEBE-8AC6-CEC9-8898-A3FB92B638EE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(8)</a:t>
            </a:r>
          </a:p>
          <a:p>
            <a:r>
              <a:rPr lang="en-US" sz="1800" dirty="0"/>
              <a:t>All we did here are is SWAP the terms…we swap where the terms are… but it is still the same equation.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We do this because it turns out that the ratio of </a:t>
            </a:r>
            <a:r>
              <a:rPr lang="en-US" sz="1800" baseline="30000" dirty="0">
                <a:solidFill>
                  <a:srgbClr val="FF0000"/>
                </a:solidFill>
              </a:rPr>
              <a:t>p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baseline="-25000" dirty="0">
                <a:solidFill>
                  <a:srgbClr val="FF0000"/>
                </a:solidFill>
              </a:rPr>
              <a:t>q</a:t>
            </a:r>
            <a:r>
              <a:rPr lang="en-US" sz="1800" baseline="30000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is actually a lot easier to work with than an ∫ of just 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3C793-DDDC-79FA-855C-CC2A8FCF86A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62245" y="2907459"/>
            <a:ext cx="4134912" cy="6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90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9668-9871-7C38-9EE0-E4A86AE1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4D39-2DDE-E5FA-4156-B405093B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3374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29A45-6ED1-DC1A-1DD9-B573D42F5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00633A-C652-B567-5726-76EB9B90C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AD841D-5FCF-B2F1-D79F-382D7307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500012-0B52-EA6F-9689-B8E7B65333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681E96-83A8-8CCA-A638-B1B3EC06B5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8890C1-E926-1885-7FD6-40EFEABE7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47DD343-E43C-AF99-737E-11B2E62FDE1D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(8)</a:t>
            </a:r>
          </a:p>
          <a:p>
            <a:r>
              <a:rPr lang="en-US" sz="1800" dirty="0"/>
              <a:t>All we did here are is SWAP the terms…we swap where the terms are… but it is still the same equation.</a:t>
            </a:r>
          </a:p>
          <a:p>
            <a:r>
              <a:rPr lang="en-US" sz="1800" dirty="0"/>
              <a:t>We do this because it turns out that the ratio of </a:t>
            </a:r>
            <a:r>
              <a:rPr lang="en-US" sz="1800" baseline="30000" dirty="0"/>
              <a:t>p</a:t>
            </a:r>
            <a:r>
              <a:rPr lang="en-US" sz="1800" dirty="0"/>
              <a:t>/</a:t>
            </a:r>
            <a:r>
              <a:rPr lang="en-US" sz="1800" baseline="-25000" dirty="0"/>
              <a:t>q</a:t>
            </a:r>
            <a:r>
              <a:rPr lang="en-US" sz="1800" baseline="30000" dirty="0"/>
              <a:t> </a:t>
            </a:r>
            <a:r>
              <a:rPr lang="en-US" sz="1800" dirty="0"/>
              <a:t>is actually a lot easier to work with than an ∫ of just p.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We can sample from or simulate q cheaply.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81CF0-FF8E-8B8A-FE53-B90F6C2E9E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62245" y="2907459"/>
            <a:ext cx="4134912" cy="6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209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D79F-CC4F-1791-EAA4-24A687C9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BF14-9E99-ABD2-3EE7-3FFC75BB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4136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D8A14E-7595-A473-C488-53D5B6ED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8BF380-3F3D-DE2C-AE84-1147F5126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5D8BCB-9EB2-DE39-3FCB-95E7E4DF10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BA561C-0D2C-9377-933D-440DD26577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B53A86-19D6-3FE9-BF11-41D3361EA9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E110BC-AEC2-199F-CE52-78891C6D5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CDD9C48-640D-9D19-CD22-87ED7BFDD099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(9)</a:t>
            </a:r>
          </a:p>
          <a:p>
            <a:r>
              <a:rPr lang="en-US" sz="1700" dirty="0"/>
              <a:t>Here the authors just substitute in the definitions of p(x</a:t>
            </a:r>
            <a:r>
              <a:rPr lang="en-US" sz="1700" baseline="30000" dirty="0"/>
              <a:t>(0…T)</a:t>
            </a:r>
            <a:r>
              <a:rPr lang="en-US" sz="1700" dirty="0"/>
              <a:t>) and q(x</a:t>
            </a:r>
            <a:r>
              <a:rPr lang="en-US" sz="1700" baseline="30000" dirty="0"/>
              <a:t>(1…T)</a:t>
            </a:r>
            <a:r>
              <a:rPr lang="en-US" sz="1700" dirty="0"/>
              <a:t>| x</a:t>
            </a:r>
            <a:r>
              <a:rPr lang="en-US" sz="1700" baseline="30000" dirty="0"/>
              <a:t>(0)</a:t>
            </a:r>
            <a:r>
              <a:rPr lang="en-US" sz="1700" dirty="0"/>
              <a:t>).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0B6EE-F0B1-EA4E-155C-19FF32BAEBD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539240" y="4767158"/>
            <a:ext cx="2804404" cy="717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6ABF3C-8E88-FDC3-5330-9585D49F7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270" y="1751465"/>
            <a:ext cx="3746197" cy="57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F45229-5684-9C5B-08F4-1A51E21440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018"/>
          <a:stretch>
            <a:fillRect/>
          </a:stretch>
        </p:blipFill>
        <p:spPr>
          <a:xfrm>
            <a:off x="1660079" y="2457770"/>
            <a:ext cx="3798577" cy="575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2A2CCE-F9EC-CB87-947F-EE8AE7564A0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18976" y="3718843"/>
            <a:ext cx="2880360" cy="71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5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BA91-D8EE-5FD9-37FC-CCB8FC81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F6B8-F105-579F-8BD5-A4A52E3BC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4136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CC112C-AB46-77E1-9D8A-649331794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CF13F5-3792-EE1B-5ABA-95EBF8AB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A51EF7-DBD8-79C6-70BA-7DD6F3ADD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4326AB-A14E-1F3D-B04E-98D23B2F5A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500355-449C-B21D-E115-D0FDD8FD2C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37B5D1-4CDB-E0C2-DAD8-48291D54C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5CADE1D-D6CC-2D7D-815E-463700CDF650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(9)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Here the authors just substitute in the definitions of p(x</a:t>
            </a:r>
            <a:r>
              <a:rPr lang="en-US" sz="1700" baseline="30000" dirty="0">
                <a:solidFill>
                  <a:schemeClr val="bg2">
                    <a:lumMod val="75000"/>
                  </a:schemeClr>
                </a:solidFill>
              </a:rPr>
              <a:t>(0…T)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) and q(x</a:t>
            </a:r>
            <a:r>
              <a:rPr lang="en-US" sz="1700" baseline="30000" dirty="0">
                <a:solidFill>
                  <a:schemeClr val="bg2">
                    <a:lumMod val="75000"/>
                  </a:schemeClr>
                </a:solidFill>
              </a:rPr>
              <a:t>(1…T)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| x</a:t>
            </a:r>
            <a:r>
              <a:rPr lang="en-US" sz="17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).</a:t>
            </a:r>
          </a:p>
          <a:p>
            <a:r>
              <a:rPr lang="en-US" sz="1700" dirty="0"/>
              <a:t>Notice now that this </a:t>
            </a:r>
            <a:r>
              <a:rPr lang="en-US" sz="1800" dirty="0"/>
              <a:t>∫ fits the form of an expectation: 𝔼</a:t>
            </a:r>
            <a:r>
              <a:rPr lang="en-US" sz="1800" baseline="-25000" dirty="0"/>
              <a:t>q</a:t>
            </a:r>
            <a:r>
              <a:rPr lang="en-US" sz="1800" dirty="0"/>
              <a:t>[</a:t>
            </a:r>
            <a:r>
              <a:rPr lang="en-US" sz="1800" baseline="30000" dirty="0"/>
              <a:t>p</a:t>
            </a:r>
            <a:r>
              <a:rPr lang="en-US" sz="1800" dirty="0"/>
              <a:t>/</a:t>
            </a:r>
            <a:r>
              <a:rPr lang="en-US" sz="1800" baseline="-25000" dirty="0"/>
              <a:t>q</a:t>
            </a:r>
            <a:r>
              <a:rPr lang="en-US" sz="1800" dirty="0"/>
              <a:t>]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71374-4C74-93BB-C78D-0A957A3DA93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539240" y="4767158"/>
            <a:ext cx="2804404" cy="717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970533-4FB2-9082-9F58-6DADD7B569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270" y="1751465"/>
            <a:ext cx="3746197" cy="57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C38D3-4E7A-9950-5C28-49F48D9E29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018"/>
          <a:stretch>
            <a:fillRect/>
          </a:stretch>
        </p:blipFill>
        <p:spPr>
          <a:xfrm>
            <a:off x="1660079" y="2457770"/>
            <a:ext cx="3798577" cy="575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81FF1-230A-167F-8740-38D30295752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18976" y="3718843"/>
            <a:ext cx="2880360" cy="71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453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1AAB-0D1B-8851-B869-622D4ADD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2063-5353-C0F9-A0F2-9C190A19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4136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22A50-7A8C-1D84-0AF5-F899025AC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2F4274-502A-EA8E-E995-17BAACBAB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A64C95-B18F-6895-EE45-16ED2CC5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6265A2-C8AD-2459-0133-5CD91E2810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191C1C-89CC-6C4A-CB0D-56CE43040F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102E04-3A46-C2B2-CCF2-08389EF95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0FFBBBC-E442-3DFC-207B-AE3204012C01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(9)</a:t>
            </a:r>
          </a:p>
          <a:p>
            <a:r>
              <a:rPr lang="en-US" sz="1700" dirty="0"/>
              <a:t>Here the authors just substitute in the definitions of p(x</a:t>
            </a:r>
            <a:r>
              <a:rPr lang="en-US" sz="1700" baseline="30000" dirty="0"/>
              <a:t>(0…T)</a:t>
            </a:r>
            <a:r>
              <a:rPr lang="en-US" sz="1700" dirty="0"/>
              <a:t>) and q(x</a:t>
            </a:r>
            <a:r>
              <a:rPr lang="en-US" sz="1700" baseline="30000" dirty="0"/>
              <a:t>(1…T)</a:t>
            </a:r>
            <a:r>
              <a:rPr lang="en-US" sz="1700" dirty="0"/>
              <a:t>| x</a:t>
            </a:r>
            <a:r>
              <a:rPr lang="en-US" sz="1700" baseline="30000" dirty="0"/>
              <a:t>(0)</a:t>
            </a:r>
            <a:r>
              <a:rPr lang="en-US" sz="1700" dirty="0"/>
              <a:t>)</a:t>
            </a:r>
          </a:p>
          <a:p>
            <a:r>
              <a:rPr lang="en-US" sz="1700" dirty="0"/>
              <a:t>Notice now that this </a:t>
            </a:r>
            <a:r>
              <a:rPr lang="en-US" sz="1800" dirty="0"/>
              <a:t>∫ fits the form of an expectation: 𝔼</a:t>
            </a:r>
            <a:r>
              <a:rPr lang="en-US" sz="1800" baseline="-25000" dirty="0"/>
              <a:t>q</a:t>
            </a:r>
            <a:r>
              <a:rPr lang="en-US" sz="1800" dirty="0"/>
              <a:t>[</a:t>
            </a:r>
            <a:r>
              <a:rPr lang="en-US" sz="1800" baseline="30000" dirty="0"/>
              <a:t>p</a:t>
            </a:r>
            <a:r>
              <a:rPr lang="en-US" sz="1800" dirty="0"/>
              <a:t>/</a:t>
            </a:r>
            <a:r>
              <a:rPr lang="en-US" sz="1800" baseline="-25000" dirty="0"/>
              <a:t>q</a:t>
            </a:r>
            <a:r>
              <a:rPr lang="en-US" sz="1800" dirty="0"/>
              <a:t>]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1941E-CF56-8ED2-1101-465DD3EE992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539240" y="4767158"/>
            <a:ext cx="2804404" cy="717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C2AF2-0A32-BE27-3D44-84028A9AC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270" y="1751465"/>
            <a:ext cx="3746197" cy="57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35BB9A-8608-D441-CCAE-9A641A1A79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018"/>
          <a:stretch>
            <a:fillRect/>
          </a:stretch>
        </p:blipFill>
        <p:spPr>
          <a:xfrm>
            <a:off x="1660079" y="2457770"/>
            <a:ext cx="3798577" cy="575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75F8F-54EE-4E98-740B-AB31E203198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18976" y="3718843"/>
            <a:ext cx="2880360" cy="7175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F5A61-21A7-4830-3B79-58D801FE76D1}"/>
              </a:ext>
            </a:extLst>
          </p:cNvPr>
          <p:cNvSpPr txBox="1"/>
          <p:nvPr/>
        </p:nvSpPr>
        <p:spPr>
          <a:xfrm>
            <a:off x="6682058" y="3889995"/>
            <a:ext cx="437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Instead of doing a massive ∫ for p(x</a:t>
            </a:r>
            <a:r>
              <a:rPr lang="en-US" baseline="30000" dirty="0">
                <a:solidFill>
                  <a:schemeClr val="bg1"/>
                </a:solidFill>
              </a:rPr>
              <a:t>(0)</a:t>
            </a:r>
            <a:r>
              <a:rPr lang="en-US" dirty="0">
                <a:solidFill>
                  <a:schemeClr val="bg1"/>
                </a:solidFill>
              </a:rPr>
              <a:t>) we can sample forward diffusion paths (q) and calculate the ratio of the corresponding reverse diffusion paths and average over these (take the expectation) with respect to q.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F972E-F6CF-0D27-31E4-92986F39C5A2}"/>
              </a:ext>
            </a:extLst>
          </p:cNvPr>
          <p:cNvSpPr txBox="1"/>
          <p:nvPr/>
        </p:nvSpPr>
        <p:spPr>
          <a:xfrm>
            <a:off x="7094149" y="1899723"/>
            <a:ext cx="3006228" cy="7694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BIG IDEA</a:t>
            </a:r>
          </a:p>
        </p:txBody>
      </p:sp>
    </p:spTree>
    <p:extLst>
      <p:ext uri="{BB962C8B-B14F-4D97-AF65-F5344CB8AC3E}">
        <p14:creationId xmlns:p14="http://schemas.microsoft.com/office/powerpoint/2010/main" val="31974048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CE5AD-8B87-40C8-C5E8-1C701EB7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C66A-8845-DD90-7020-451B15A0C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41368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3B88-CAA2-136C-E2DC-E9693C26D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719D27-0F5A-BD3A-517E-A938B5A8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1F3A76-3827-1220-357B-B6045821FF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B64EF9-E19F-621B-89FA-D649BB12CE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F96FBC-A81A-9E09-11C8-62EC71073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36004E-CA77-6DDF-0010-C7B4FDAFF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641F746-4F6E-8414-E707-06E9A3B4E2E6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(9)</a:t>
            </a:r>
          </a:p>
          <a:p>
            <a:r>
              <a:rPr lang="en-US" sz="1700" dirty="0"/>
              <a:t>Here the authors just substitute in the definitions of p(x</a:t>
            </a:r>
            <a:r>
              <a:rPr lang="en-US" sz="1700" baseline="30000" dirty="0"/>
              <a:t>(0…T)</a:t>
            </a:r>
            <a:r>
              <a:rPr lang="en-US" sz="1700" dirty="0"/>
              <a:t>) and q(x</a:t>
            </a:r>
            <a:r>
              <a:rPr lang="en-US" sz="1700" baseline="30000" dirty="0"/>
              <a:t>(1…T)</a:t>
            </a:r>
            <a:r>
              <a:rPr lang="en-US" sz="1700" dirty="0"/>
              <a:t>| x</a:t>
            </a:r>
            <a:r>
              <a:rPr lang="en-US" sz="1700" baseline="30000" dirty="0"/>
              <a:t>(0)</a:t>
            </a:r>
            <a:r>
              <a:rPr lang="en-US" sz="1700" dirty="0"/>
              <a:t>)</a:t>
            </a:r>
          </a:p>
          <a:p>
            <a:r>
              <a:rPr lang="en-US" sz="1700" dirty="0"/>
              <a:t>Notice now that this </a:t>
            </a:r>
            <a:r>
              <a:rPr lang="en-US" sz="1800" dirty="0"/>
              <a:t>∫ fits the form of an expectation: 𝔼</a:t>
            </a:r>
            <a:r>
              <a:rPr lang="en-US" sz="1800" baseline="-25000" dirty="0"/>
              <a:t>q</a:t>
            </a:r>
            <a:r>
              <a:rPr lang="en-US" sz="1800" dirty="0"/>
              <a:t>[</a:t>
            </a:r>
            <a:r>
              <a:rPr lang="en-US" sz="1800" baseline="30000" dirty="0"/>
              <a:t>p</a:t>
            </a:r>
            <a:r>
              <a:rPr lang="en-US" sz="1800" dirty="0"/>
              <a:t>/</a:t>
            </a:r>
            <a:r>
              <a:rPr lang="en-US" sz="1800" baseline="-25000" dirty="0"/>
              <a:t>q</a:t>
            </a:r>
            <a:r>
              <a:rPr lang="en-US" sz="1800" dirty="0"/>
              <a:t>]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3770D-6029-BEFF-4CE4-20F188EA55E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539240" y="4767158"/>
            <a:ext cx="2804404" cy="717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ED43FE-C575-4ADA-5391-9883E800C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270" y="1751465"/>
            <a:ext cx="3746197" cy="57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F407E9-1C79-5E8B-C179-CC3AB7B38DC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018"/>
          <a:stretch>
            <a:fillRect/>
          </a:stretch>
        </p:blipFill>
        <p:spPr>
          <a:xfrm>
            <a:off x="1660079" y="2457770"/>
            <a:ext cx="3798577" cy="575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0359F9-1BCE-6AB8-C6BE-E4369E1288A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918976" y="3718843"/>
            <a:ext cx="2880360" cy="7175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707448-EAA9-5239-4738-7A97CD894C0B}"/>
              </a:ext>
            </a:extLst>
          </p:cNvPr>
          <p:cNvSpPr txBox="1"/>
          <p:nvPr/>
        </p:nvSpPr>
        <p:spPr>
          <a:xfrm>
            <a:off x="6682058" y="3889995"/>
            <a:ext cx="437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Instead of doing a massive ∫ for p(x</a:t>
            </a:r>
            <a:r>
              <a:rPr lang="en-US" baseline="30000" dirty="0">
                <a:solidFill>
                  <a:schemeClr val="bg1"/>
                </a:solidFill>
              </a:rPr>
              <a:t>(0)</a:t>
            </a:r>
            <a:r>
              <a:rPr lang="en-US" dirty="0">
                <a:solidFill>
                  <a:schemeClr val="bg1"/>
                </a:solidFill>
              </a:rPr>
              <a:t>) we can sample forward diffusion paths (q) and calculate the ratio of the corresponding reverse diffusion paths and average over these (take the expectation) with respect to q.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FFB71E-6BD2-2AA8-4270-CFD526652D12}"/>
              </a:ext>
            </a:extLst>
          </p:cNvPr>
          <p:cNvSpPr txBox="1"/>
          <p:nvPr/>
        </p:nvSpPr>
        <p:spPr>
          <a:xfrm>
            <a:off x="7094149" y="1899723"/>
            <a:ext cx="3006228" cy="7694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BE1BF8-2283-CAD3-0B0F-97E740CDEA98}"/>
              </a:ext>
            </a:extLst>
          </p:cNvPr>
          <p:cNvSpPr/>
          <p:nvPr/>
        </p:nvSpPr>
        <p:spPr>
          <a:xfrm>
            <a:off x="6322713" y="3328805"/>
            <a:ext cx="4938983" cy="21335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849D3-28B2-E5D4-4F07-ABCC382C962B}"/>
              </a:ext>
            </a:extLst>
          </p:cNvPr>
          <p:cNvSpPr txBox="1"/>
          <p:nvPr/>
        </p:nvSpPr>
        <p:spPr>
          <a:xfrm>
            <a:off x="6670731" y="3467017"/>
            <a:ext cx="4084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Instead of doing a massive ∫ for p(x</a:t>
            </a:r>
            <a:r>
              <a:rPr lang="en-US" baseline="30000" dirty="0">
                <a:solidFill>
                  <a:schemeClr val="bg1"/>
                </a:solidFill>
              </a:rPr>
              <a:t>(0)</a:t>
            </a:r>
            <a:r>
              <a:rPr lang="en-US" dirty="0">
                <a:solidFill>
                  <a:schemeClr val="bg1"/>
                </a:solidFill>
              </a:rPr>
              <a:t>) we can sample forward diffusion paths (q) and calculate the ratio of the corresponding reverse diffusion paths and average over these (take the expectation) with respect to q.</a:t>
            </a:r>
          </a:p>
        </p:txBody>
      </p:sp>
    </p:spTree>
    <p:extLst>
      <p:ext uri="{BB962C8B-B14F-4D97-AF65-F5344CB8AC3E}">
        <p14:creationId xmlns:p14="http://schemas.microsoft.com/office/powerpoint/2010/main" val="2725587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FBD8-5AC9-41BE-FE91-D8368FF8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6322-AD3C-8690-389C-ED8AC5FE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44097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409EF-2000-091D-1E9D-034A41F3E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6A9B55-0A8B-2927-C75B-36680B007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6" y="1436000"/>
            <a:ext cx="4832062" cy="714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C4EE5B-81FA-FB1A-A1CF-A73F955D0F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66"/>
          <a:stretch>
            <a:fillRect/>
          </a:stretch>
        </p:blipFill>
        <p:spPr>
          <a:xfrm>
            <a:off x="50777" y="2091903"/>
            <a:ext cx="5084480" cy="669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71C906-DFDA-9078-A26F-D3D9955679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07" b="25294"/>
          <a:stretch>
            <a:fillRect/>
          </a:stretch>
        </p:blipFill>
        <p:spPr>
          <a:xfrm>
            <a:off x="50777" y="2896514"/>
            <a:ext cx="5121997" cy="15707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6063C7-1357-DEF6-DF63-5B06BBCFA0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618" b="-1"/>
          <a:stretch>
            <a:fillRect/>
          </a:stretch>
        </p:blipFill>
        <p:spPr>
          <a:xfrm>
            <a:off x="88294" y="4767158"/>
            <a:ext cx="5084480" cy="770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BAF494-81A6-D635-80CC-A465A264B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3BB48E-037E-494F-A13A-5D913338D7D1}"/>
              </a:ext>
            </a:extLst>
          </p:cNvPr>
          <p:cNvSpPr/>
          <p:nvPr/>
        </p:nvSpPr>
        <p:spPr>
          <a:xfrm>
            <a:off x="6305242" y="4273627"/>
            <a:ext cx="4829175" cy="1368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C2435-F098-F3F0-1F8C-5A05B6351C26}"/>
              </a:ext>
            </a:extLst>
          </p:cNvPr>
          <p:cNvSpPr txBox="1"/>
          <p:nvPr/>
        </p:nvSpPr>
        <p:spPr>
          <a:xfrm>
            <a:off x="6534770" y="4615389"/>
            <a:ext cx="4370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authors use Eq (9) in their next equation for deriving the ELBO for their process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A4688658-56BF-64B4-0DC0-4E740FF855B5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(9)</a:t>
            </a:r>
          </a:p>
          <a:p>
            <a:r>
              <a:rPr lang="en-US" sz="1700" dirty="0"/>
              <a:t>Here the authors just substitute in the definitions of p(x</a:t>
            </a:r>
            <a:r>
              <a:rPr lang="en-US" sz="1700" baseline="30000" dirty="0"/>
              <a:t>(0…T)</a:t>
            </a:r>
            <a:r>
              <a:rPr lang="en-US" sz="1700" dirty="0"/>
              <a:t>) and q(x</a:t>
            </a:r>
            <a:r>
              <a:rPr lang="en-US" sz="1700" baseline="30000" dirty="0"/>
              <a:t>(1…T)</a:t>
            </a:r>
            <a:r>
              <a:rPr lang="en-US" sz="1700" dirty="0"/>
              <a:t>| x</a:t>
            </a:r>
            <a:r>
              <a:rPr lang="en-US" sz="1700" baseline="30000" dirty="0"/>
              <a:t>(0)</a:t>
            </a:r>
            <a:r>
              <a:rPr lang="en-US" sz="1700" dirty="0"/>
              <a:t>)</a:t>
            </a:r>
          </a:p>
          <a:p>
            <a:r>
              <a:rPr lang="en-US" sz="1700" dirty="0"/>
              <a:t>Notice now that this </a:t>
            </a:r>
            <a:r>
              <a:rPr lang="en-US" sz="1800" dirty="0"/>
              <a:t>∫ fits the form of an expectation: 𝔼</a:t>
            </a:r>
            <a:r>
              <a:rPr lang="en-US" sz="1800" baseline="-25000" dirty="0"/>
              <a:t>q</a:t>
            </a:r>
            <a:r>
              <a:rPr lang="en-US" sz="1800" dirty="0"/>
              <a:t>[</a:t>
            </a:r>
            <a:r>
              <a:rPr lang="en-US" sz="1800" baseline="30000" dirty="0"/>
              <a:t>p</a:t>
            </a:r>
            <a:r>
              <a:rPr lang="en-US" sz="1800" dirty="0"/>
              <a:t>/</a:t>
            </a:r>
            <a:r>
              <a:rPr lang="en-US" sz="1800" baseline="-25000" dirty="0"/>
              <a:t>q</a:t>
            </a:r>
            <a:r>
              <a:rPr lang="en-US" sz="1800" dirty="0"/>
              <a:t>]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25C3B-6537-5311-3F79-43756590D53E}"/>
              </a:ext>
            </a:extLst>
          </p:cNvPr>
          <p:cNvSpPr txBox="1"/>
          <p:nvPr/>
        </p:nvSpPr>
        <p:spPr>
          <a:xfrm>
            <a:off x="6682058" y="2108841"/>
            <a:ext cx="4133142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Why does any of this matter?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8B300-D9EC-18DA-96E4-19171AE4E13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45443" y="1374306"/>
            <a:ext cx="5046963" cy="416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534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79165-EA12-4938-7480-940026E6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C10F-3773-CBAA-7A27-E162DBB1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31DF2-3819-15DD-27A5-1A7EF8532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FC2417-8A75-B232-B138-B5227A335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685B181-D8B4-0C71-383D-FAC83DC91B92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(10)</a:t>
            </a:r>
          </a:p>
          <a:p>
            <a:r>
              <a:rPr lang="en-US" sz="1700" dirty="0"/>
              <a:t>The </a:t>
            </a:r>
            <a:r>
              <a:rPr lang="en-US" sz="1800" dirty="0"/>
              <a:t>∫ here is again an 𝔼.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E80078-7944-53DD-D2B7-EFCE9EC79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B6C792-72C0-911E-DC26-550C1BDD11C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029758" y="1340157"/>
            <a:ext cx="2208742" cy="479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0C7E9-305B-E7BC-5101-1E5A18A25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975E0C-EE2D-27AD-02EA-470850F93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863CB0-5CFB-546A-BA55-FFDDFD83D277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092C67-9040-E559-8C15-E0940E30578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796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33FF0-BC5F-9B6B-EEBD-8461CDB0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935B-EA7F-91E8-6A1F-E0FAABDE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72833-5955-2F18-031C-0A2E7265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A1AB22-82F6-5B75-C1AE-A0542A04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D46F25-DF83-A5C8-B4A0-996E7D7723ED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(10)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here is again an 𝔼.</a:t>
            </a:r>
          </a:p>
          <a:p>
            <a:r>
              <a:rPr lang="en-US" sz="1800" dirty="0"/>
              <a:t>L = 𝔼</a:t>
            </a:r>
            <a:r>
              <a:rPr lang="en-US" sz="1800" baseline="-25000" dirty="0"/>
              <a:t>q</a:t>
            </a:r>
            <a:r>
              <a:rPr lang="en-US" sz="1800" dirty="0"/>
              <a:t>[log(p(x</a:t>
            </a:r>
            <a:r>
              <a:rPr lang="en-US" sz="1800" baseline="30000" dirty="0"/>
              <a:t>(0)</a:t>
            </a:r>
            <a:r>
              <a:rPr lang="en-US" sz="1800" dirty="0"/>
              <a:t>))] the expected log likelihood of the model.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5759C2-8A80-616B-3EBD-0D93B0893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95D6FA-B55B-295A-5C04-0AF382148D9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14277" y="1395663"/>
            <a:ext cx="245681" cy="3118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F22B88-67C1-10F8-0287-94AE3035C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6BE843-6408-4C18-581B-807D44D22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DA7E69F-D7EE-3900-5ACE-134FD66A0DC0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F5E58F-9357-79DF-262C-C6FBC0CE687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108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C828-6821-D960-ADCE-65B23D21F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8554-87FC-E19C-1C42-7C265A0C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C95D7-C2C6-9A75-083C-9228A56D3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C17265-C34E-2DF7-7735-01D0539E2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582F3E1-A1FA-4216-C4E9-7796341FAEAA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(10)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here is again an 𝔼.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L = 𝔼</a:t>
            </a:r>
            <a:r>
              <a:rPr lang="en-US" sz="1800" baseline="-250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[log(p(x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))] the expected log likelihood of the model.</a:t>
            </a:r>
          </a:p>
          <a:p>
            <a:r>
              <a:rPr lang="en-US" sz="1800" dirty="0"/>
              <a:t>It is asking how likely the actual data set is in the model’s eyes.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083BE5-C138-AEC7-25BB-72A37826A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45DB23-BD3C-FED4-D70D-9DAD72C30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9B5C5C-AA90-79FC-6D10-3E7358472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25ED749-FA96-2A0C-9848-F6C807BF0D03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1FA3E6-CAF0-5BB5-F7FB-4A312D53FF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56CF4-2D92-A5F1-D09B-596EEE5F6E1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614277" y="1395663"/>
            <a:ext cx="245681" cy="31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55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7747-A51C-8C66-DD20-8C30EB6B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6641-5C62-61A2-FC37-A1019B480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650A7-8E09-E920-A2B4-601A77430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A3C805-1AC8-FA80-6560-CA8D1DCD8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80730DF-AAD9-13CF-D27D-0D8CA06BA1A4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(10)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here is again an 𝔼.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L = 𝔼</a:t>
            </a:r>
            <a:r>
              <a:rPr lang="en-US" sz="1800" baseline="-250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[log(p(x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))] the expected log likelihood of the model.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It is asking how likely the actual data set is in the model’s eyes.</a:t>
            </a:r>
          </a:p>
          <a:p>
            <a:r>
              <a:rPr lang="en-US" sz="1800" dirty="0"/>
              <a:t>Ideally the data we are modeling is highly probable in our model otherwise our model isn’t very good.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CA7DE4-5594-9BD8-CB59-C8E7E3633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BB09E5-7AAC-671C-F100-F46F5E9E2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D80FDB-094A-2E2E-9BCC-9DD85897A6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2540F7B-AD2A-008F-018B-22F1E029462C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6E2EFC-0FE7-1E68-6710-3596F4D95B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98F98-682A-E19D-A76A-001A62BFE0A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614277" y="1395663"/>
            <a:ext cx="245681" cy="31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906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1780-2859-9619-6AEB-A153500D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B436-A1F1-CABA-9D12-31FC3EEF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7E802-089B-60B7-AEBA-C3571B7B9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851DC8-85C8-2C69-1F85-6978F83C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C71856A-FA54-85AA-3E8A-55CA5B417868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(10)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here is again an 𝔼.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L = 𝔼</a:t>
            </a:r>
            <a:r>
              <a:rPr lang="en-US" sz="1800" baseline="-25000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[log(p(x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))] the expected log likelihood of the model.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It is asking how likely the actual data set is in the model’s eyes.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Ideally the data we are modeling is highly probable in our model otherwise our model isn’t very good.</a:t>
            </a:r>
          </a:p>
          <a:p>
            <a:r>
              <a:rPr lang="en-US" sz="1800" dirty="0"/>
              <a:t>So we want to maximize L, but we can’t calculate p(x</a:t>
            </a:r>
            <a:r>
              <a:rPr lang="en-US" sz="1800" baseline="30000" dirty="0"/>
              <a:t>(0)</a:t>
            </a:r>
            <a:r>
              <a:rPr lang="en-US" sz="1800" dirty="0"/>
              <a:t>) directly.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CF5E9-8742-954C-68D5-CA8D101D9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EE6957-14F2-09B7-7B82-79A14B243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4F4452-A852-89BB-E812-D4E11CC0E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6AE840A-9022-67C0-09D2-BC00649A1C47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3AAFE9-1D6E-364B-76CA-F2EF7F368D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B0135-2D4A-C863-3826-A2C84F65675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614277" y="1395663"/>
            <a:ext cx="245681" cy="31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79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C280-851C-AB3D-C933-229D6447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ABC4-7262-4BBF-4276-8397D492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855AAF-08F0-B23A-5941-78D7B0A00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C6B6B6-BC10-A484-E8BC-BC4C95F0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B6B65DA-8188-53CE-B37D-0C2753D2DEEF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(11)</a:t>
            </a:r>
          </a:p>
          <a:p>
            <a:r>
              <a:rPr lang="en-US" sz="1700" dirty="0">
                <a:solidFill>
                  <a:srgbClr val="FF0000"/>
                </a:solidFill>
              </a:rPr>
              <a:t>We substitute our work-around from Eq (9).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87027E-5337-3438-230D-D8712767A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E7227F-8CCA-7432-E242-57F4CB666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C0068D-7628-E5AD-3002-1CFCD2EFC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CAE8BE-8DD2-36A9-DA05-BF20FA2659E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09669" y="1833681"/>
            <a:ext cx="3438454" cy="11259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C52C20C-B658-9B3E-9428-48893429782E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DE17A3-E0BE-837D-829C-FF0B6BD9A99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F3D4C2-59CB-1FD2-48AE-F5D857F739B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083" t="73618" b="-1"/>
          <a:stretch>
            <a:fillRect/>
          </a:stretch>
        </p:blipFill>
        <p:spPr>
          <a:xfrm>
            <a:off x="6705600" y="3432407"/>
            <a:ext cx="3707447" cy="770359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08AD0-9A59-83DB-5851-E60C4C9319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820" b="25294"/>
          <a:stretch>
            <a:fillRect/>
          </a:stretch>
        </p:blipFill>
        <p:spPr>
          <a:xfrm>
            <a:off x="5459267" y="2752388"/>
            <a:ext cx="5121997" cy="6732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139C70-9FF3-0844-8943-9122A3AC4249}"/>
              </a:ext>
            </a:extLst>
          </p:cNvPr>
          <p:cNvSpPr/>
          <p:nvPr/>
        </p:nvSpPr>
        <p:spPr>
          <a:xfrm>
            <a:off x="5987143" y="2623457"/>
            <a:ext cx="4425904" cy="1561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296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980B-88A6-B981-22BA-6227DFF5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99F0-2BD9-1E5E-32F0-C140F2E8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DB723-0CCD-6193-5644-D3E8C05A4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FDF871-22A0-71E9-54A6-B96CBBF94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3B9EE26-B1C8-A0E6-197E-82D2C31FB444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(12)</a:t>
            </a:r>
          </a:p>
          <a:p>
            <a:r>
              <a:rPr lang="en-US" sz="1700" dirty="0"/>
              <a:t>This one jumps a few steps.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427937-7C24-9289-1ABE-D750F51EB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B9E70B-6107-0B92-7538-159C7554E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683179-E596-8100-8DB5-18A55F027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F867C0-BEE4-114E-FF11-9952E6B1707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F1C03B-F972-34C6-78DA-44B1AD3C4E60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E3AB8C-FEDC-DBEB-17C5-2B5F8D2B0A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626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1C96-FBE0-12B4-A438-8082A20D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E34C-76C7-F0EA-9199-04879F71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E0A6E-0602-00F0-9B26-FE34D9657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93B2C5-3542-C0FC-C8C4-699843C6B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A65CD59-690A-67BC-E97D-0CC7F70BE162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/>
              <a:t>First thing we do is move the log into the </a:t>
            </a:r>
            <a:r>
              <a:rPr lang="en-US" sz="1800" dirty="0"/>
              <a:t>∫ to get a lesser value (Jensen's inequality).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DEBCB-A820-E1E7-9754-B3DAA6F8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CFF366-4374-9865-7984-DD1A8EAC9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91BB15-5B23-20B5-D3F8-9E07990B7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77533C-4EB8-D578-E5D2-6B5E7C2F296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5BDADB-4D2F-B115-037A-7D96070BFDB8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8A1369-900D-A421-7439-F888716A63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675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3105-631E-A5D4-E9A0-873C3145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A3DD-54B9-8D38-63AF-F89A2CC5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6A403-0494-02FA-D5E4-B40393E12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B17C50-2528-7002-07DE-9F6A8412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B8491F3-C40D-3845-117A-ACDCBF1B2CDD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First thing we do is move the log into 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to get a lesser value (Jensen's inequality).</a:t>
            </a:r>
          </a:p>
          <a:p>
            <a:r>
              <a:rPr lang="en-US" sz="1800" dirty="0"/>
              <a:t>Then use log rules to separate the ∫ into 2 ∫.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B558F-9661-F38B-46A3-31F230E77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740835-2761-5835-AE2A-6F30C823A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6F5533-1E0B-3945-075F-9C1BF1492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CF17E-32CB-16B9-F8BC-CCA0ACFA4D5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7831FB6-6AE5-AB8D-381E-A4C9D30C6316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F7E1DE-369D-42E3-AE45-EEBC3D28452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388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5D2B-26CC-5B87-056E-6FF912D5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6BF9-E08C-9C3B-FFE9-D5F1D74FD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A5A04E-B6E5-4B1B-9F6D-343F31FC6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F81A56-740D-ADDD-ECF5-556E49BBC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FC02855-64C0-DB80-44CB-A8D6C7744966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First thing we do is move the log into 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to get a lesser value (Jensen's inequality).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Then use log rules to separate the ∫ into 2 ∫. </a:t>
            </a:r>
          </a:p>
          <a:p>
            <a:r>
              <a:rPr lang="en-US" sz="1800" dirty="0"/>
              <a:t>That 1</a:t>
            </a:r>
            <a:r>
              <a:rPr lang="en-US" sz="1800" baseline="30000" dirty="0"/>
              <a:t>st</a:t>
            </a:r>
            <a:r>
              <a:rPr lang="en-US" sz="1800" dirty="0"/>
              <a:t> ∫ collapses to a constant and the 2</a:t>
            </a:r>
            <a:r>
              <a:rPr lang="en-US" sz="1800" baseline="30000" dirty="0"/>
              <a:t>nd</a:t>
            </a:r>
            <a:r>
              <a:rPr lang="en-US" sz="1800" dirty="0"/>
              <a:t> can be merged with the outer ∫ to go from dx</a:t>
            </a:r>
            <a:r>
              <a:rPr lang="en-US" sz="1800" baseline="30000" dirty="0"/>
              <a:t>(0)</a:t>
            </a:r>
            <a:r>
              <a:rPr lang="en-US" sz="1800" dirty="0"/>
              <a:t> and dx</a:t>
            </a:r>
            <a:r>
              <a:rPr lang="en-US" sz="1800" baseline="30000" dirty="0"/>
              <a:t>(1…T) </a:t>
            </a:r>
            <a:r>
              <a:rPr lang="en-US" sz="1800" dirty="0"/>
              <a:t>to dx</a:t>
            </a:r>
            <a:r>
              <a:rPr lang="en-US" sz="1800" baseline="30000" dirty="0"/>
              <a:t>(0…T) </a:t>
            </a:r>
            <a:r>
              <a:rPr lang="en-US" sz="1800" dirty="0"/>
              <a:t>and the same applies for q(x).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D5081D-C4D4-FF91-366E-BE993C27D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7A327E-2E54-89B7-7E92-141C51AE0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3E35CD-0138-55A4-7053-4F8EE1D63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E18DCB-2037-D5AE-C225-4C006E477F8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0C35ADE-215D-961B-F5E2-88B0109AFDBC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8C17C3-10B1-928C-155C-EE852D523B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965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5866-FE5C-7679-15DF-4982519C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DFFC-38E3-EE2C-8988-42AA4C62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6093C-11C6-557C-F490-A6E92DFF5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9CE266-F25A-4251-68F2-956799C98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86DDAC2-B5EA-5E05-2640-865510E06979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First thing we do is move the log into 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to get a lesser value (Jensen's inequality).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Then use log rules to separate the ∫ into 2 ∫. 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That 1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st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∫ collapses to a constant and the 2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nd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can be merged with the outer ∫ to go from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and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(1…T)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to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and the same applies for q(x).</a:t>
            </a:r>
          </a:p>
          <a:p>
            <a:r>
              <a:rPr lang="en-US" sz="1800" dirty="0"/>
              <a:t>Believe it or not… there is actually a lot more math (in the appendix) to get us to Eq (13)… the math in the appendix isn’t all that fascinating or thrilling.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5F906-69C1-C513-B9D0-5B512B2F4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7EB8C-F963-4429-D4FF-D49F8DBA3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278255-8DCF-B80D-B78F-4A264B7C1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16561B-565E-BEDC-2B9A-FA14EB1D22D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D461852-1629-DE73-D29D-47C55A8A68C5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606805-C20A-FD98-043B-6B76423D8F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505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7FD9-8713-D4A3-239A-D39FCE0F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E0C3-B600-3A07-9F6A-5DBBEAAD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C1986-B196-CFA7-A106-C6110FB0B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4DC4D0-5D4E-34D7-EF73-D76BD672B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69369EF-DC26-F94E-5C26-93B4ADE8EE0A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First thing we do is move the log into 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to get a lesser value (Jensen's inequality).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Then use log rules to separate the ∫ into 2 ∫. 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That 1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st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∫ collapses to a constant and the 2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nd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can be merged with the outer ∫ to go from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and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(1…T)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to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and the same applies for q(x).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Believe it or not… there is actually a lot more math (in the appendix) to get us to Eq (13)… the math in the appendix isn’t all that fascinating or thrilling.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0CE856-D96E-19A4-C12E-0C318549B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39CAC-AF7B-8CE3-CE70-152E8E608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850ABD-6B70-C83B-4C86-7732F98B69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F7DFF-09AE-2E98-1872-75A7ADE5006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D131E80-DE91-9D4D-FED6-084A5135F828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989FB7-4E6C-5D8B-D860-FB2E2B38D71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2ABD5A-8491-5691-6B09-6B5F20323EE2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</p:spTree>
    <p:extLst>
      <p:ext uri="{BB962C8B-B14F-4D97-AF65-F5344CB8AC3E}">
        <p14:creationId xmlns:p14="http://schemas.microsoft.com/office/powerpoint/2010/main" val="12203067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84FE-8AA0-CEB5-D1BE-85886958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24C-1579-0117-E4F3-017F0CAE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21F69-40C5-03CB-128C-DA907C450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4BE333-F8DF-CC34-9223-4C143730F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A101AA1-E640-C4E1-A8E0-B3046180543C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Equation (12)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one jumps a few steps.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First thing we do is move the log into the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∫ to get a lesser value (Jensen's inequality).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Then use log rules to separate the ∫ into 2 ∫. 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That 1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st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∫ collapses to a constant and the 2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nd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can be merged with the outer ∫ to go from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(0)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and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(1…T)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to dx</a:t>
            </a:r>
            <a:r>
              <a:rPr lang="en-US" sz="1800" baseline="30000" dirty="0">
                <a:solidFill>
                  <a:schemeClr val="bg2">
                    <a:lumMod val="75000"/>
                  </a:schemeClr>
                </a:solidFill>
              </a:rPr>
              <a:t>(0…T)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and the same applies for q(x).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Believe it or not… there is actually a lot more math (in the appendix) to get us to Eq (13)… the math in the appendix isn’t all that fascinating or thrilling.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F7A0DF-2660-988D-1453-57EF2A05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7C41CE-B81E-5739-DA01-381A71D0F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89C50B-5E44-0ACE-AB8C-F883BA167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5C1A8-A217-B6F6-BC4F-CF79669C776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848614" y="3002937"/>
            <a:ext cx="3135557" cy="1098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5082D6-55D5-EEB4-DA4E-BE372FC1864A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BAC288-77BA-73C0-1211-0910994C60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D3BE6-E72D-11DD-2F71-94B8F6C0B348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F5A5D-B7DF-50E2-50BA-A1379CD56AB4}"/>
              </a:ext>
            </a:extLst>
          </p:cNvPr>
          <p:cNvSpPr/>
          <p:nvPr/>
        </p:nvSpPr>
        <p:spPr>
          <a:xfrm>
            <a:off x="6439288" y="3540215"/>
            <a:ext cx="4829175" cy="13115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B28F7-45FA-8DD2-C416-95B84B795BE1}"/>
              </a:ext>
            </a:extLst>
          </p:cNvPr>
          <p:cNvSpPr txBox="1"/>
          <p:nvPr/>
        </p:nvSpPr>
        <p:spPr>
          <a:xfrm>
            <a:off x="6668816" y="3859753"/>
            <a:ext cx="4370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(12): Merge the inner and outer integrals (with lots of math)</a:t>
            </a:r>
          </a:p>
        </p:txBody>
      </p:sp>
    </p:spTree>
    <p:extLst>
      <p:ext uri="{BB962C8B-B14F-4D97-AF65-F5344CB8AC3E}">
        <p14:creationId xmlns:p14="http://schemas.microsoft.com/office/powerpoint/2010/main" val="32640203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8E8B-FEC9-0818-A8D9-BED17E21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7FBC-9F81-C6D7-FB31-F3A6D38F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1DFE0-B794-C745-E592-7E75DF744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4C61E4-A8E2-7BDD-4804-FE7BE561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3BC39D5C-62CC-8A42-D9E7-C96CB8056DE7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(13)</a:t>
            </a:r>
          </a:p>
          <a:p>
            <a:r>
              <a:rPr lang="en-US" sz="1700" dirty="0">
                <a:solidFill>
                  <a:srgbClr val="FF0000"/>
                </a:solidFill>
              </a:rPr>
              <a:t>This is just restating that K is a lower bound.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88FC48-4D4F-188F-3C03-D072B6C8F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0BB0AD-87F8-794B-100D-E207E6E5D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762AE5-EED7-2B96-8551-0FFE4010F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F7FBDA-1765-9550-D220-F9864DE8F8A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4" y="4100966"/>
            <a:ext cx="983760" cy="36217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670ED7B-1AD2-0EFE-D2C1-590558B23908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F36B41-0088-F88A-4057-B5A11D2C8F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907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84FD-A454-D55C-2F0D-77B0FB1A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CBF7-4888-A7CC-4A9D-E4366D11D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38D55-A75D-5AE4-2B5C-67789F1B8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C4D32F-105D-98A4-45D6-1E41E6F9E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F9A5713-0B36-CAFB-64B0-B97DC0C722D8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(14)</a:t>
            </a:r>
          </a:p>
          <a:p>
            <a:r>
              <a:rPr lang="en-US" sz="1700" dirty="0"/>
              <a:t>This is the final form of their “ELBO” derivation because it can be analytically calculated.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DC2422-94DB-BD60-6B1F-E5A068BC1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4F5EFA-FAC5-319D-BD99-9C823B06C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F090C5-EDB8-8143-47AB-EA2D57531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45EF3A-C26B-B3CE-AE38-040784F6E6B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2" y="4441552"/>
            <a:ext cx="4404741" cy="13747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93C745F-0673-F885-889B-D0D04292C2E1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8D44CB-D8AA-FCCE-32BF-EFB483C4D4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5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F298-A7FF-0A98-476B-97A451FB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3915-6E1E-0DE9-2791-DE43F719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156323-4262-7008-3EB9-B7D83FACA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7EBE5D-0C8F-EB5F-72D9-F5DD65DD0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500E991-7BDB-E905-CE03-AEA71B55EE99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(14)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is the final form of their “ELBO” derivation because it can be analytically calculated.</a:t>
            </a:r>
          </a:p>
          <a:p>
            <a:r>
              <a:rPr lang="en-US" sz="1700" dirty="0"/>
              <a:t>We are not going to cover all the appendix math… but they used a few tricks that are specific to the way they organized their diffusion that let some terms cancel and simplify nicely.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1D6FEC-8F70-5B25-AE4D-76F457A23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F744C4-F734-F977-6CC9-02A22DB67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D766BC-9DF4-5328-9CC4-E5D843A660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6D2E65-A935-3896-D997-3CBCAF8189A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2" y="4441552"/>
            <a:ext cx="4404741" cy="13747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0130EFC-4ED7-6CE0-312E-2C422D50FBEC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0D063D-21DA-0B6B-732C-5239B7D0AF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086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D005-21CB-5859-FDF8-6ECB8CF3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49C9-383C-A4DB-B2A5-905606D1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1220F-9BB3-C314-AF99-3E6A48B08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2CF544-ED8D-4987-298C-8186C9BF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B2FF20E-0383-533C-F1C1-35A53EB02D07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(14)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is the final form of their “ELBO” derivation because it can be analytically calculated.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We are not going to cover all the appendix math… but they used a few tricks that are specific to the way they organized their diffusion that let some terms cancel and simplify nicely.</a:t>
            </a:r>
          </a:p>
          <a:p>
            <a:r>
              <a:rPr lang="en-US" sz="1700" dirty="0"/>
              <a:t>One thing to note – the lower bound is related to a negative mixture of KL divergences between each step.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0C663-933D-AE3B-05D4-7B4C313A4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DDE7C-23AF-05BA-481C-07C947403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15A7D6-C34E-FAD7-DAB9-978C8E6F7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F46CA-692B-45CB-9E84-700ACE5C785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2" y="4441552"/>
            <a:ext cx="4404741" cy="13747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5D60D9-4072-AA86-4B6B-24A34F6EB274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9F91B7-6DF4-2ECE-5669-FB618DD345A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242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26EE-0E23-67CA-9713-5A1CE05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8CA1-FA72-B7F6-B9CF-094CE48B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0E224E-2A1A-DBCF-3705-3A0C9070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018974-484F-1DB5-4F11-D69CFBDF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179E4FE-58E0-3A14-E7E7-97998637EC10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(14)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is the final form of their “ELBO” derivation because it can be analytically calculated.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We are not going to cover all the appendix math… but they used a few tricks that are specific to the way they organized their diffusion that let some terms cancel and simplify nicely.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One thing to note – the lower bound is related to a negative mixture of KL divergences between each step.</a:t>
            </a:r>
          </a:p>
          <a:p>
            <a:r>
              <a:rPr lang="en-US" sz="1700" dirty="0"/>
              <a:t>Similar to the ELBO and KL divergence we saw in the Variational Inference paper.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6A0E59-0906-F062-AE4D-E0374A4D7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55819F-A33F-1878-5979-08ABA0AF4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F0C94E-F587-B0EC-6870-BFE04D003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A139C-B256-334E-AF3D-919BF11EC17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2" y="4441552"/>
            <a:ext cx="4404741" cy="13747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325D2FB-7E65-B7A6-9281-B89628AEF70D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3A6E81-DD79-A3B3-7491-68B03AF4B9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398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F573-5CD6-97E3-8197-3EF0B2F4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190C-6792-5FBA-8F80-69AD63DA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6F2838-F02E-618C-0877-DD3B19CAD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78C877-9C07-6547-726C-1FFB16E0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4948A49-9C97-1AFC-9640-DE3C009E623C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(14)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This is the final form of their “ELBO” derivation because it can be analytically calculated.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We are not going to cover all the appendix math… but they used a few tricks that are specific to the way they organized their diffusion that let some terms cancel and simplify nicely.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One thing to note – the lower bound is related to a negative mixture of KL divergences between each step.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Similar to the ELBO and KL divergence we saw in the Variational Inference paper.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99F266-A88A-6F1F-E7BC-4F64DE563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E4D68E-8157-B1BB-7C50-415021B9B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85BEDF-4F70-7CC8-AA21-43B98988E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31D176-A77E-6866-A935-59E7928A020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07582" y="4441552"/>
            <a:ext cx="4404741" cy="13747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31C10C-632E-8C1A-E755-B953055C2EB3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784C03-6102-9951-84C9-3E6AC66311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D43B8-9512-168E-5B1D-BEDCFA580DD9}"/>
              </a:ext>
            </a:extLst>
          </p:cNvPr>
          <p:cNvSpPr txBox="1"/>
          <p:nvPr/>
        </p:nvSpPr>
        <p:spPr>
          <a:xfrm>
            <a:off x="7277016" y="2130546"/>
            <a:ext cx="289286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BIG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A176F0-55C3-8CED-2ED2-6319EB2B68B9}"/>
              </a:ext>
            </a:extLst>
          </p:cNvPr>
          <p:cNvSpPr/>
          <p:nvPr/>
        </p:nvSpPr>
        <p:spPr>
          <a:xfrm>
            <a:off x="6439288" y="3540215"/>
            <a:ext cx="4829175" cy="13115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4FAED3-9E61-452B-E60C-0E83D02C62DD}"/>
              </a:ext>
            </a:extLst>
          </p:cNvPr>
          <p:cNvSpPr txBox="1"/>
          <p:nvPr/>
        </p:nvSpPr>
        <p:spPr>
          <a:xfrm>
            <a:off x="6606246" y="3835876"/>
            <a:ext cx="4495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Equation (14): Final form that is analytically tractable – similar to ELBO from VI paper</a:t>
            </a:r>
          </a:p>
        </p:txBody>
      </p:sp>
    </p:spTree>
    <p:extLst>
      <p:ext uri="{BB962C8B-B14F-4D97-AF65-F5344CB8AC3E}">
        <p14:creationId xmlns:p14="http://schemas.microsoft.com/office/powerpoint/2010/main" val="5505925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033C-8B7F-888D-D8FC-3D3000D9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D13E-7B6A-20D7-BDED-E8590A2E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B9FA4C-85C8-6F5C-0082-E700E4F6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6E3446-B946-C5BD-7015-6D6213E6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07051E0-9AC4-0653-1981-7DFC45705472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>
                <a:solidFill>
                  <a:srgbClr val="FF0000"/>
                </a:solidFill>
              </a:rPr>
              <a:t>So if all this was about how to train the model…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68AE6-F03A-AF75-FFD9-D5F62C710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56EE4C-4574-D7DD-E2FB-86D1974CD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199FB3-8682-907F-6F14-C31605DC4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3ADC7E0-CC6B-203E-907F-3981D03B446F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DF1CDA-62AB-5ECB-4342-433CD7A7DA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D411C2-1CD4-B0C9-19F2-7C6DFD215FE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91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9218-3AD1-057B-75E1-3E743939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7E1F-5BCE-3750-AA67-D0D3180A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8C187-2DD8-D538-93FE-1AA0E9A9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2B356D-76ED-BE8E-58FD-573F1ED3A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C025690-5965-2F60-4571-4DBFF518521A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/>
              <a:t>So if all this was about how to train the model… </a:t>
            </a:r>
            <a:r>
              <a:rPr lang="en-US" sz="1700" dirty="0">
                <a:solidFill>
                  <a:srgbClr val="FF0000"/>
                </a:solidFill>
              </a:rPr>
              <a:t>we are going to pick the link in the chain from t to t-1 that maximizes the lower bound…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1128CC-705A-7F01-C77B-F167A1413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F53AC5-BB93-B92B-3D4A-344135CF1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71AACF-F178-AA78-7664-6258B4836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3B6FEE7-1AD7-C4AC-D62B-4E72850DA400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7E6F1C-F3B5-B36E-D0C2-96BA5BF479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18873-DD76-E430-14CE-7E4E9D400AB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50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A6E1-4CA7-DC97-2FE7-0E558FB0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6A83-2FB8-C624-9537-4EF7DEDB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AA4DF-0744-9F7B-EAA8-3367942B2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00A409-2BA0-EE67-A98B-6D8B3A7F5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418CF6D-E3EB-DD6F-078B-CB019CE95A0C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/>
              <a:t>So if all this was about how to train the model… we are going to pick the link in the chain from t to t-1 that maximizes the lower bound… </a:t>
            </a:r>
            <a:r>
              <a:rPr lang="en-US" sz="1700" dirty="0">
                <a:solidFill>
                  <a:srgbClr val="FF0000"/>
                </a:solidFill>
              </a:rPr>
              <a:t>which is the same thing as minimizing the divergence from the reverse-of-the-forward diffusion process.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F3BF5-ED9D-DA53-C968-86ABBD4D9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7E11D9-F5AC-4D00-92C7-F79DEDFEC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2D5521-254D-2225-E7FD-E093F763B2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DD75CB-AE78-B858-172B-9D5470751BA4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012342-4D65-64D9-7F70-340A4336F0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78B36-33E9-83DF-686B-67EE7A355DD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623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92381-66F1-047C-5C2B-1FFBFD25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2940-12E3-ED3F-952F-0233BE87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104C4-B1CD-9A82-55BC-E606158AB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57D946-4C7B-EF3E-E6AA-8A43B3DC0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8943FFC-9612-3AA1-3633-CC4144032564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/>
              <a:t>So if all this was about how to train the model… we are going to pick the link in the chain from t to t-1 that maximizes the lower bound… which is the same thing as minimizing the divergence from the reverse-of-the-forward diffusion process.</a:t>
            </a:r>
          </a:p>
          <a:p>
            <a:r>
              <a:rPr lang="en-US" sz="1700" dirty="0">
                <a:solidFill>
                  <a:srgbClr val="FF0000"/>
                </a:solidFill>
              </a:rPr>
              <a:t>The nice thing is that you are maximizing each </a:t>
            </a:r>
            <a:r>
              <a:rPr lang="en-US" sz="1700" i="1" dirty="0">
                <a:solidFill>
                  <a:srgbClr val="FF0000"/>
                </a:solidFill>
              </a:rPr>
              <a:t>individual</a:t>
            </a:r>
            <a:r>
              <a:rPr lang="en-US" sz="1700" dirty="0">
                <a:solidFill>
                  <a:srgbClr val="FF0000"/>
                </a:solidFill>
              </a:rPr>
              <a:t> link.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77273-DFEF-B1E9-310B-598EBA9A1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E9B44D-C0BE-02AF-1F2E-F2BAEF144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FFC55C-A60A-D27B-75F4-364BFB17D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75CC8A6-22C8-F916-34CC-DE1D62C1EE1B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31ABA27-BD10-D9F7-9F54-CDA1B174E9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6D3C7A-6BEB-17F8-C18E-35EB8DF700C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100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8F46-BEC9-C453-0512-4027FAA9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A92E-A21B-36EE-48E2-CB231BE0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C6134-965D-5F5A-1F94-4C192B1E8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09478F-8E08-EBF6-96BD-7F93F1A56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C74754C-2206-AD88-381C-56E984F38BEC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/>
              <a:t>So if all this was about how to train the model… we are going to pick the link in the chain from t to t-1 that maximizes the lower bound… which is the same thing as minimizing the divergence from the reverse-of-the-forward diffusion process.</a:t>
            </a:r>
          </a:p>
          <a:p>
            <a:r>
              <a:rPr lang="en-US" sz="1700" dirty="0"/>
              <a:t>The nice thing is that you are maximizing each </a:t>
            </a:r>
            <a:r>
              <a:rPr lang="en-US" sz="1700" i="1" dirty="0"/>
              <a:t>individual</a:t>
            </a:r>
            <a:r>
              <a:rPr lang="en-US" sz="1700" dirty="0"/>
              <a:t> link.</a:t>
            </a:r>
          </a:p>
          <a:p>
            <a:r>
              <a:rPr lang="en-US" sz="1700" dirty="0">
                <a:solidFill>
                  <a:srgbClr val="FF0000"/>
                </a:solidFill>
              </a:rPr>
              <a:t>To wrap this all up… the authors have a nice quote: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A2024-1F26-67E5-3F26-5B8B29492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8C6AD1-E06F-71C5-9AA5-BEE34A141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64CE51-3BFB-A3C5-1FAF-37BD34D31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77012D-ADC2-973B-7D7B-F71AF9DC889E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80371F6-375C-BC7D-2C7B-A166ABAC40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77BF59-3289-B64A-25DC-3504C2C9880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774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19AF-02B9-492B-0236-A38F2B49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430A-3E0A-9C4B-1865-A866E032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4B333-2484-B846-BAE4-2732F4199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97B09A-5AC8-AA90-BECD-01397D811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6B1C3E4-2302-3CC3-2DDE-52BAA50A4797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Equation (15)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So if all this was about how to train the model… we are going to pick the link in the chain from t to t-1 that maximizes the lower bound… which is the same thing as minimizing the divergence from the reverse-of-the-forward diffusion process.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nice thing is that you are maximizing each </a:t>
            </a:r>
            <a:r>
              <a:rPr lang="en-US" sz="1700" i="1" dirty="0">
                <a:solidFill>
                  <a:schemeClr val="bg2">
                    <a:lumMod val="75000"/>
                  </a:schemeClr>
                </a:solidFill>
              </a:rPr>
              <a:t>individual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 link.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To wrap this all up… the authors have a nice quote:</a:t>
            </a:r>
          </a:p>
          <a:p>
            <a:r>
              <a:rPr lang="en-US" sz="1700" dirty="0"/>
              <a:t>“Thus, the task of estimating [p(x</a:t>
            </a:r>
            <a:r>
              <a:rPr lang="en-US" sz="1700" baseline="30000" dirty="0"/>
              <a:t>(0)</a:t>
            </a:r>
            <a:r>
              <a:rPr lang="en-US" sz="1700" dirty="0"/>
              <a:t>)] has been reduced to the task of performing regression on the functions which set the mean and covariance of a sequence of Gaussians”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9E6C6D-3C16-230A-C562-2DB449230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885E7F-FADB-0145-57AF-97E153D68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958E77-E46F-B110-3C23-885B64609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D2F24DC-FB01-9351-E2CE-E49BF447B388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CBA9D87-A8E9-209B-BA54-A654C2A17B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94FA0-7CC9-1165-012A-0A8040D8250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362294" y="6040732"/>
            <a:ext cx="2578335" cy="5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553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9D81-7111-814D-2C78-AB7E9513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25AD-CA45-1A1B-1E40-14695F27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44715-4852-9486-5ED2-790D6F102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DD7F22-1866-8623-92A8-7A946C98C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61E5691-F23B-72F2-018E-DAC59758FE40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Equation (15)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So if all this was about how to train the model… we are going to pick the link in the chain from t to t-1 that maximizes the lower bound… which is the same thing as minimizing the divergence from the reverse-of-the-forward diffusion process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nice thing is that you are maximizing each individual link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To wrap this all up… the authors have a nice quote: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“Thus, the task of estimating p(x(0)) has been reduces to the task of performing regression on the functions which set the mean and covariance of a sequence of Gaussians”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95A35E-B90B-E5BE-B63B-7C4DD69FC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D05604-5227-1170-09FD-53A350AD5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39D11B-7918-4EE1-4061-A6BD36B2B9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9AC6AD0-3835-5F9D-08E4-248CFC0A89B3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3686EC-E643-4AF1-4A96-077B433B5A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F6560E-1B28-3763-8EE0-285F4CED25B0}"/>
              </a:ext>
            </a:extLst>
          </p:cNvPr>
          <p:cNvSpPr txBox="1"/>
          <p:nvPr/>
        </p:nvSpPr>
        <p:spPr>
          <a:xfrm>
            <a:off x="6789695" y="3105834"/>
            <a:ext cx="413314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In other words:</a:t>
            </a:r>
          </a:p>
        </p:txBody>
      </p:sp>
    </p:spTree>
    <p:extLst>
      <p:ext uri="{BB962C8B-B14F-4D97-AF65-F5344CB8AC3E}">
        <p14:creationId xmlns:p14="http://schemas.microsoft.com/office/powerpoint/2010/main" val="3465201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E08D-0BF0-D8D6-2372-8D82C991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FF04-2337-5F43-4142-E701AC39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98" y="0"/>
            <a:ext cx="5611802" cy="1691324"/>
          </a:xfrm>
          <a:noFill/>
        </p:spPr>
        <p:txBody>
          <a:bodyPr anchor="ctr"/>
          <a:lstStyle/>
          <a:p>
            <a:pPr algn="l"/>
            <a:r>
              <a:rPr lang="en-US" dirty="0"/>
              <a:t>Model Probability PT II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75E6E-EA6B-F4C9-28C1-3450A3446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C1E68E-43D6-DE0B-C473-913B6FF7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1061064"/>
            <a:ext cx="10004403" cy="20728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FB4A9EB-854C-E777-A179-E7FFFBE8E211}"/>
              </a:ext>
            </a:extLst>
          </p:cNvPr>
          <p:cNvSpPr txBox="1">
            <a:spLocks/>
          </p:cNvSpPr>
          <p:nvPr/>
        </p:nvSpPr>
        <p:spPr>
          <a:xfrm>
            <a:off x="5469984" y="1395663"/>
            <a:ext cx="6538660" cy="5363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Equation (15)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So if all this was about how to train the model… we are going to pick the link in the chain from t to t-1 that maximizes the lower bound… which is the same thing as minimizing the divergence from the reverse-of-the-forward diffusion process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The nice thing is that you are maximizing each individual link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To wrap this all up… the authors have a nice quote:</a:t>
            </a:r>
          </a:p>
          <a:p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“Thus, the task of estimating p(x(0)) has been reduces to the task of performing regression on the functions which set the mean and covariance of a sequence of Gaussians”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C5445A-4B38-D7C3-E5C8-45590900B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3" y="1312829"/>
            <a:ext cx="4077053" cy="1714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E3138A-3301-914E-AE90-604ED3386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4" y="3004153"/>
            <a:ext cx="3833192" cy="1181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64050E-75D6-60ED-2C92-FC98C9F69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83" y="4077641"/>
            <a:ext cx="4404742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9F8E73-9C5E-7DA6-5F81-1CCC2F401AE4}"/>
              </a:ext>
            </a:extLst>
          </p:cNvPr>
          <p:cNvSpPr/>
          <p:nvPr/>
        </p:nvSpPr>
        <p:spPr>
          <a:xfrm>
            <a:off x="323850" y="6140404"/>
            <a:ext cx="5146134" cy="4386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A90912-5F10-7687-939C-9F96901EA7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519"/>
          <a:stretch>
            <a:fillRect/>
          </a:stretch>
        </p:blipFill>
        <p:spPr>
          <a:xfrm>
            <a:off x="1362294" y="5996888"/>
            <a:ext cx="3330229" cy="5081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C026BE-1BC4-9835-DF6E-749DD80BC01D}"/>
              </a:ext>
            </a:extLst>
          </p:cNvPr>
          <p:cNvSpPr/>
          <p:nvPr/>
        </p:nvSpPr>
        <p:spPr>
          <a:xfrm>
            <a:off x="6705600" y="4639768"/>
            <a:ext cx="4370117" cy="9881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D0A66-5389-5C6D-BB8B-277C0C614C5E}"/>
              </a:ext>
            </a:extLst>
          </p:cNvPr>
          <p:cNvSpPr txBox="1"/>
          <p:nvPr/>
        </p:nvSpPr>
        <p:spPr>
          <a:xfrm>
            <a:off x="6671208" y="4770028"/>
            <a:ext cx="4370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went from intractable to lots of small totally do-able steps!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CDFE1-E273-E60E-50E6-EF2A6FB9D425}"/>
              </a:ext>
            </a:extLst>
          </p:cNvPr>
          <p:cNvSpPr txBox="1"/>
          <p:nvPr/>
        </p:nvSpPr>
        <p:spPr>
          <a:xfrm>
            <a:off x="6789695" y="3105834"/>
            <a:ext cx="413314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In other words:</a:t>
            </a:r>
          </a:p>
        </p:txBody>
      </p:sp>
    </p:spTree>
    <p:extLst>
      <p:ext uri="{BB962C8B-B14F-4D97-AF65-F5344CB8AC3E}">
        <p14:creationId xmlns:p14="http://schemas.microsoft.com/office/powerpoint/2010/main" val="1593476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6F83C3-0962-6855-962E-A868A5965E2F}"/>
              </a:ext>
            </a:extLst>
          </p:cNvPr>
          <p:cNvSpPr/>
          <p:nvPr/>
        </p:nvSpPr>
        <p:spPr>
          <a:xfrm>
            <a:off x="2502567" y="3119437"/>
            <a:ext cx="7441533" cy="112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858" y="1571559"/>
            <a:ext cx="9467127" cy="2527911"/>
          </a:xfrm>
        </p:spPr>
        <p:txBody>
          <a:bodyPr/>
          <a:lstStyle/>
          <a:p>
            <a:r>
              <a:rPr lang="en-US" dirty="0"/>
              <a:t>End of Lightning-chat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{3A96EE6B-73C1-472E-9436-A0285050294B}TFb73f27a7-0404-48d9-96f8-0ca8d35477ec68e4afe9_win32-7b62b493978d</Template>
  <TotalTime>1421</TotalTime>
  <Words>5713</Words>
  <Application>Microsoft Office PowerPoint</Application>
  <PresentationFormat>Widescreen</PresentationFormat>
  <Paragraphs>445</Paragraphs>
  <Slides>78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5" baseType="lpstr">
      <vt:lpstr>Aptos</vt:lpstr>
      <vt:lpstr>Arial</vt:lpstr>
      <vt:lpstr>Calibri</vt:lpstr>
      <vt:lpstr>Calibri Light</vt:lpstr>
      <vt:lpstr>Courier New</vt:lpstr>
      <vt:lpstr>Wingdings</vt:lpstr>
      <vt:lpstr>Custom</vt:lpstr>
      <vt:lpstr>Deep Unsupervised Learning Using Nonequilibrium Thermodynamics</vt:lpstr>
      <vt:lpstr>Chat Focus: The math</vt:lpstr>
      <vt:lpstr>Chat Focus: The math</vt:lpstr>
      <vt:lpstr>Chat Focus: The math</vt:lpstr>
      <vt:lpstr>Chat Focus: The math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Setup</vt:lpstr>
      <vt:lpstr>Model Probability Pt I</vt:lpstr>
      <vt:lpstr>Model Probability Pt I</vt:lpstr>
      <vt:lpstr>Model Probability Pt I</vt:lpstr>
      <vt:lpstr>Model Probability Pt I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 </vt:lpstr>
      <vt:lpstr>Model Probability pt i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Model Probability PT II </vt:lpstr>
      <vt:lpstr>End of Lightning-chat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Miller, Racquel</dc:creator>
  <cp:lastModifiedBy>Miller, Racquel</cp:lastModifiedBy>
  <cp:revision>23</cp:revision>
  <dcterms:created xsi:type="dcterms:W3CDTF">2026-03-22T18:45:44Z</dcterms:created>
  <dcterms:modified xsi:type="dcterms:W3CDTF">2026-03-23T22:59:51Z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